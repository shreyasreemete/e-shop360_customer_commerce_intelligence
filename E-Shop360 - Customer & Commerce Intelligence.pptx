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Lst>
  <p:notesMasterIdLst>
    <p:notesMasterId r:id="rId12"/>
  </p:notesMasterIdLst>
  <p:sldIdLst>
    <p:sldId id="256" r:id="rId2"/>
    <p:sldId id="263" r:id="rId3"/>
    <p:sldId id="257" r:id="rId4"/>
    <p:sldId id="258" r:id="rId5"/>
    <p:sldId id="264" r:id="rId6"/>
    <p:sldId id="265" r:id="rId7"/>
    <p:sldId id="266" r:id="rId8"/>
    <p:sldId id="260" r:id="rId9"/>
    <p:sldId id="261" r:id="rId10"/>
    <p:sldId id="262" r:id="rId1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98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F37-5433-9414-5DEE-1F3CEF3AFF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579E07-BA6E-8A68-8C20-C7ADAEEA5B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2AB39F-1088-7DBA-0746-926EC8274AE4}"/>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4D6B3637-2E0D-1AA1-9B4F-43700EE3FF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65B4DD31-13EB-C441-5212-E590060546BF}"/>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0856703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B3FB-83CB-5BBA-B8AC-8BD23DBD6E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74CEF3-2304-2979-AE26-A284FF7B36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393522-6706-BFF8-79FA-3AFFA5D7B5B9}"/>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742EF7FC-F161-CD83-6317-DF476659C4C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09DF0F4-31E7-B02B-6876-1CC4E59A34D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10236256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3D79-85E5-AF61-5E62-1D739BAB9E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C63DAB-47CB-258E-6B97-FD31B5806B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5F0FCE-0DA3-882D-B25C-5D7D921F56F3}"/>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8BF2A696-3937-1970-3B55-3577A69E24C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2D989800-0787-7A5B-CE74-1C5D4913E67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7854182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CB7EB-0534-EA89-C1BD-6ACB761EC4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73ABB4-F29F-E1E1-3BC0-715F8972A8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77830E-E68E-A222-692C-E16EF0F862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962835C-6908-ADA0-2CAB-FF724F0F8D87}"/>
              </a:ext>
            </a:extLst>
          </p:cNvPr>
          <p:cNvSpPr>
            <a:spLocks noGrp="1"/>
          </p:cNvSpPr>
          <p:nvPr>
            <p:ph type="dt" sz="half" idx="10"/>
          </p:nvPr>
        </p:nvSpPr>
        <p:spPr/>
        <p:txBody>
          <a:bodyPr/>
          <a:lstStyle/>
          <a:p>
            <a:fld id="{B3C0EDEC-0890-4E6D-9DE0-ECAF543851A7}" type="datetime1">
              <a:rPr lang="en-US" smtClean="0"/>
              <a:t>8/17/2026</a:t>
            </a:fld>
            <a:endParaRPr lang="en-US"/>
          </a:p>
        </p:txBody>
      </p:sp>
      <p:sp>
        <p:nvSpPr>
          <p:cNvPr id="6" name="Footer Placeholder 5">
            <a:extLst>
              <a:ext uri="{FF2B5EF4-FFF2-40B4-BE49-F238E27FC236}">
                <a16:creationId xmlns:a16="http://schemas.microsoft.com/office/drawing/2014/main" id="{B793933A-8BE8-ED1B-3C76-C281F8A5103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14AA2B95-309B-0331-7CF3-6CC3FE22575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5550048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D7B17-DD15-E0F8-AEA2-43DF19E260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773804-1430-8762-338A-470BCA5F0B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73E2EC-337F-3309-9FF1-F46EB43A13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D02DD4-9F6B-1B69-0D9A-33C9A38A6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59694C-EBE7-C160-B8C2-5F0D2183C9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651425-02F3-C9AB-6619-A64D230B6358}"/>
              </a:ext>
            </a:extLst>
          </p:cNvPr>
          <p:cNvSpPr>
            <a:spLocks noGrp="1"/>
          </p:cNvSpPr>
          <p:nvPr>
            <p:ph type="dt" sz="half" idx="10"/>
          </p:nvPr>
        </p:nvSpPr>
        <p:spPr/>
        <p:txBody>
          <a:bodyPr/>
          <a:lstStyle/>
          <a:p>
            <a:fld id="{2DD88318-BA47-4AD0-805B-25EB53D81BBB}" type="datetime1">
              <a:rPr lang="en-US" smtClean="0"/>
              <a:t>8/17/2026</a:t>
            </a:fld>
            <a:endParaRPr lang="en-US"/>
          </a:p>
        </p:txBody>
      </p:sp>
      <p:sp>
        <p:nvSpPr>
          <p:cNvPr id="8" name="Footer Placeholder 7">
            <a:extLst>
              <a:ext uri="{FF2B5EF4-FFF2-40B4-BE49-F238E27FC236}">
                <a16:creationId xmlns:a16="http://schemas.microsoft.com/office/drawing/2014/main" id="{37EF4CD3-0312-2F6A-8AC4-D098E054ACFC}"/>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3CCDB1DC-A547-05EF-6DEC-6CE1172DB6C0}"/>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5952152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A6FC-6DC0-3E28-8020-DE3E9FDBC1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661DA3-F225-AB49-F884-C7C87CEB39EC}"/>
              </a:ext>
            </a:extLst>
          </p:cNvPr>
          <p:cNvSpPr>
            <a:spLocks noGrp="1"/>
          </p:cNvSpPr>
          <p:nvPr>
            <p:ph type="dt" sz="half" idx="10"/>
          </p:nvPr>
        </p:nvSpPr>
        <p:spPr/>
        <p:txBody>
          <a:bodyPr/>
          <a:lstStyle/>
          <a:p>
            <a:fld id="{30AD3F20-2AB6-4A04-8E99-A7FB006776B6}" type="datetime1">
              <a:rPr lang="en-US" smtClean="0"/>
              <a:t>8/17/2026</a:t>
            </a:fld>
            <a:endParaRPr lang="en-US"/>
          </a:p>
        </p:txBody>
      </p:sp>
      <p:sp>
        <p:nvSpPr>
          <p:cNvPr id="4" name="Footer Placeholder 3">
            <a:extLst>
              <a:ext uri="{FF2B5EF4-FFF2-40B4-BE49-F238E27FC236}">
                <a16:creationId xmlns:a16="http://schemas.microsoft.com/office/drawing/2014/main" id="{F0EC69F7-44ED-8CB9-6256-392EDEE2CC9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500490C-3D6D-E78D-9CED-E0ACA19FB582}"/>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4116292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93F39-B7E7-69FE-E477-908BD708CDCD}"/>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3" name="Footer Placeholder 2">
            <a:extLst>
              <a:ext uri="{FF2B5EF4-FFF2-40B4-BE49-F238E27FC236}">
                <a16:creationId xmlns:a16="http://schemas.microsoft.com/office/drawing/2014/main" id="{1D778F27-DEF2-1359-05D8-B18C42B300ED}"/>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132CBE20-1C4A-564B-F4F6-7C325F4FBA99}"/>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59293295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5D30-29E2-CE50-0960-53FEFAF043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FB88AD-2028-D008-B1D3-1D155B7F72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B91BCB0-1889-F825-A2E7-ADF092EE3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771C1-8ECD-E599-2266-EBDA5165E69F}"/>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6" name="Footer Placeholder 5">
            <a:extLst>
              <a:ext uri="{FF2B5EF4-FFF2-40B4-BE49-F238E27FC236}">
                <a16:creationId xmlns:a16="http://schemas.microsoft.com/office/drawing/2014/main" id="{5C5484F5-5056-FE9F-19A3-9042B9523DA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DA333217-40E9-857E-2540-69EE4B246FB5}"/>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691545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4974-A7D6-80E6-BEB9-63D5626E6B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265D17-3051-FA63-4119-E91FF32563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2A463D-4082-50CD-DFAB-DA0741C5F4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AE8F04-B593-B94E-F7B5-F4F0E573EB59}"/>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6" name="Footer Placeholder 5">
            <a:extLst>
              <a:ext uri="{FF2B5EF4-FFF2-40B4-BE49-F238E27FC236}">
                <a16:creationId xmlns:a16="http://schemas.microsoft.com/office/drawing/2014/main" id="{A1B344D2-D099-0A09-DF32-E1CC5FACE1A3}"/>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25799CE-014A-4581-058B-DBE86C39B36A}"/>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7529746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5A5A9-2F8C-D2A1-A42C-313E2DFBC4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8A81EC-A362-F5D5-F894-92412DF7CC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415C12-3732-D573-0DF2-F3C5273A6036}"/>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953E3C7A-86E8-AF0C-E532-59D61938965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D0D7D93-7E20-6020-6A2B-688B8AAAA65B}"/>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049735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DD50F9-30E5-F089-E42A-DD82F84501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E9AB0C-BAFF-9E08-E2FF-CB0F7C3E4E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9489D6-1C48-80AD-C508-DAB9A5F63AAB}"/>
              </a:ext>
            </a:extLst>
          </p:cNvPr>
          <p:cNvSpPr>
            <a:spLocks noGrp="1"/>
          </p:cNvSpPr>
          <p:nvPr>
            <p:ph type="dt" sz="half" idx="10"/>
          </p:nvPr>
        </p:nvSpPr>
        <p:spPr/>
        <p:txBody>
          <a:body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B08E71CD-75AA-1B68-638F-D17356BA615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86C32DF-4441-8B07-DD51-1256FE92253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9453677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65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9351F9-71ED-4B4B-3C36-24254C5E03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0F6E1E-B7A0-0EA2-5FEE-B3F47F1678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8947FD-4CCC-7EC6-D146-DDB890A0C7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B9AEC8-204B-4AD5-8041-BCAF36A74EBE}" type="datetime1">
              <a:rPr lang="en-US" smtClean="0"/>
              <a:t>8/17/2026</a:t>
            </a:fld>
            <a:endParaRPr lang="en-US"/>
          </a:p>
        </p:txBody>
      </p:sp>
      <p:sp>
        <p:nvSpPr>
          <p:cNvPr id="5" name="Footer Placeholder 4">
            <a:extLst>
              <a:ext uri="{FF2B5EF4-FFF2-40B4-BE49-F238E27FC236}">
                <a16:creationId xmlns:a16="http://schemas.microsoft.com/office/drawing/2014/main" id="{54F2589E-DDF2-E3A3-194B-8E99F0A142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92307A88-3576-6891-EB2C-92C60545A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31901885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1.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4.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9.png"/><Relationship Id="rId7"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31.png"/><Relationship Id="rId10" Type="http://schemas.openxmlformats.org/officeDocument/2006/relationships/image" Target="../media/image32.png"/><Relationship Id="rId4" Type="http://schemas.openxmlformats.org/officeDocument/2006/relationships/image" Target="../media/image9.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11.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7FFFE"/>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42BBA65-3828-690F-EA1F-FA18966BF12A}"/>
              </a:ext>
            </a:extLst>
          </p:cNvPr>
          <p:cNvPicPr>
            <a:picLocks noChangeAspect="1"/>
          </p:cNvPicPr>
          <p:nvPr/>
        </p:nvPicPr>
        <p:blipFill>
          <a:blip r:embed="rId3"/>
          <a:stretch>
            <a:fillRect/>
          </a:stretch>
        </p:blipFill>
        <p:spPr>
          <a:xfrm>
            <a:off x="5202936" y="0"/>
            <a:ext cx="7013734" cy="6858000"/>
          </a:xfrm>
          <a:prstGeom prst="rect">
            <a:avLst/>
          </a:prstGeom>
        </p:spPr>
      </p:pic>
      <p:pic>
        <p:nvPicPr>
          <p:cNvPr id="5" name="Image 0" descr="/mnt/user-data/uploads/CoE_logo.png"/>
          <p:cNvPicPr>
            <a:picLocks noChangeAspect="1"/>
          </p:cNvPicPr>
          <p:nvPr/>
        </p:nvPicPr>
        <p:blipFill>
          <a:blip r:embed="rId4"/>
          <a:stretch>
            <a:fillRect/>
          </a:stretch>
        </p:blipFill>
        <p:spPr>
          <a:xfrm>
            <a:off x="305571" y="296910"/>
            <a:ext cx="1546378" cy="531372"/>
          </a:xfrm>
          <a:prstGeom prst="rect">
            <a:avLst/>
          </a:prstGeom>
        </p:spPr>
      </p:pic>
      <p:sp>
        <p:nvSpPr>
          <p:cNvPr id="6" name="Shape 3"/>
          <p:cNvSpPr/>
          <p:nvPr/>
        </p:nvSpPr>
        <p:spPr>
          <a:xfrm>
            <a:off x="544068" y="1311741"/>
            <a:ext cx="2331720" cy="384048"/>
          </a:xfrm>
          <a:prstGeom prst="roundRect">
            <a:avLst>
              <a:gd name="adj" fmla="val 50000"/>
            </a:avLst>
          </a:prstGeom>
          <a:solidFill>
            <a:srgbClr val="74C0BD"/>
          </a:solidFill>
          <a:ln/>
        </p:spPr>
        <p:txBody>
          <a:bodyPr/>
          <a:lstStyle/>
          <a:p>
            <a:endParaRPr lang="en-IN" dirty="0"/>
          </a:p>
        </p:txBody>
      </p:sp>
      <p:sp>
        <p:nvSpPr>
          <p:cNvPr id="7" name="Text 4"/>
          <p:cNvSpPr/>
          <p:nvPr/>
        </p:nvSpPr>
        <p:spPr>
          <a:xfrm>
            <a:off x="544068" y="1311741"/>
            <a:ext cx="233172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POWER BI PROJECT</a:t>
            </a:r>
            <a:endParaRPr lang="en-US" sz="1200" dirty="0"/>
          </a:p>
        </p:txBody>
      </p:sp>
      <p:sp>
        <p:nvSpPr>
          <p:cNvPr id="8" name="Text 5"/>
          <p:cNvSpPr/>
          <p:nvPr/>
        </p:nvSpPr>
        <p:spPr>
          <a:xfrm>
            <a:off x="548640" y="1766855"/>
            <a:ext cx="4385310" cy="2438362"/>
          </a:xfrm>
          <a:prstGeom prst="rect">
            <a:avLst/>
          </a:prstGeom>
          <a:noFill/>
          <a:ln/>
        </p:spPr>
        <p:txBody>
          <a:bodyPr wrap="square" lIns="0" tIns="0" rIns="0" bIns="0" rtlCol="0" anchor="ctr"/>
          <a:lstStyle/>
          <a:p>
            <a:pPr>
              <a:lnSpc>
                <a:spcPct val="108000"/>
              </a:lnSpc>
            </a:pPr>
            <a:r>
              <a:rPr lang="en-US" sz="3600" b="1" dirty="0">
                <a:solidFill>
                  <a:srgbClr val="3F6B6A"/>
                </a:solidFill>
                <a:latin typeface="Algerian" panose="04020705040A02060702" pitchFamily="82" charset="0"/>
                <a:ea typeface="Cambria" pitchFamily="34" charset="-122"/>
                <a:cs typeface="Cambria" pitchFamily="34" charset="-120"/>
              </a:rPr>
              <a:t>E-Shop360 – Customer &amp; commerce intelligence</a:t>
            </a:r>
            <a:endParaRPr lang="en-US" sz="3600" dirty="0">
              <a:latin typeface="Algerian" panose="04020705040A02060702" pitchFamily="82" charset="0"/>
            </a:endParaRPr>
          </a:p>
        </p:txBody>
      </p:sp>
      <p:sp>
        <p:nvSpPr>
          <p:cNvPr id="9" name="Text 6"/>
          <p:cNvSpPr/>
          <p:nvPr/>
        </p:nvSpPr>
        <p:spPr>
          <a:xfrm>
            <a:off x="548640" y="4688676"/>
            <a:ext cx="4385310" cy="1298448"/>
          </a:xfrm>
          <a:prstGeom prst="rect">
            <a:avLst/>
          </a:prstGeom>
          <a:noFill/>
          <a:ln/>
        </p:spPr>
        <p:txBody>
          <a:bodyPr wrap="square" lIns="0" tIns="0" rIns="0" bIns="0" rtlCol="0" anchor="ctr"/>
          <a:lstStyle/>
          <a:p>
            <a:pPr>
              <a:lnSpc>
                <a:spcPct val="125000"/>
              </a:lnSpc>
            </a:pPr>
            <a:r>
              <a:rPr lang="en-US" sz="1500" dirty="0">
                <a:latin typeface="Calibri" pitchFamily="34" charset="0"/>
                <a:ea typeface="Calibri" pitchFamily="34" charset="-122"/>
                <a:cs typeface="Calibri" pitchFamily="34" charset="-120"/>
              </a:rPr>
              <a:t>A Power BI dashboard project </a:t>
            </a:r>
            <a:r>
              <a:rPr lang="en-US" sz="1400" b="1" dirty="0">
                <a:latin typeface="+mj-lt"/>
                <a:ea typeface="Cambria" pitchFamily="34" charset="-122"/>
                <a:cs typeface="Cambria" pitchFamily="34" charset="-120"/>
              </a:rPr>
              <a:t>E-Shop360 – Customer &amp; commerce intelligence</a:t>
            </a:r>
            <a:r>
              <a:rPr lang="en-US" sz="1600" b="1" dirty="0">
                <a:latin typeface="+mj-lt"/>
              </a:rPr>
              <a:t> </a:t>
            </a:r>
            <a:r>
              <a:rPr lang="en-US" sz="1500" dirty="0">
                <a:latin typeface="Calibri" pitchFamily="34" charset="0"/>
                <a:ea typeface="Calibri" pitchFamily="34" charset="-122"/>
                <a:cs typeface="Calibri" pitchFamily="34" charset="-120"/>
              </a:rPr>
              <a:t>using the Brazilian E-commerce dataset.</a:t>
            </a:r>
          </a:p>
          <a:p>
            <a:pPr>
              <a:lnSpc>
                <a:spcPct val="125000"/>
              </a:lnSpc>
            </a:pPr>
            <a:endParaRPr lang="en-US" sz="1500" dirty="0">
              <a:solidFill>
                <a:srgbClr val="63908E"/>
              </a:solidFill>
              <a:latin typeface="Calibri" pitchFamily="34" charset="0"/>
              <a:ea typeface="Calibri" pitchFamily="34" charset="-122"/>
              <a:cs typeface="Calibri" pitchFamily="34" charset="-120"/>
            </a:endParaRPr>
          </a:p>
          <a:p>
            <a:pPr>
              <a:lnSpc>
                <a:spcPct val="125000"/>
              </a:lnSpc>
            </a:pPr>
            <a:r>
              <a:rPr lang="en-US" sz="1500" dirty="0">
                <a:latin typeface="Calibri" pitchFamily="34" charset="0"/>
                <a:ea typeface="Calibri" pitchFamily="34" charset="-122"/>
                <a:cs typeface="Calibri" pitchFamily="34" charset="-120"/>
              </a:rPr>
              <a:t>Developed by –</a:t>
            </a:r>
          </a:p>
          <a:p>
            <a:pPr marL="285750" indent="-285750">
              <a:lnSpc>
                <a:spcPct val="125000"/>
              </a:lnSpc>
              <a:buFont typeface="Arial" panose="020B0604020202020204" pitchFamily="34" charset="0"/>
              <a:buChar char="•"/>
            </a:pPr>
            <a:r>
              <a:rPr lang="en-US" sz="1500" dirty="0">
                <a:latin typeface="Calibri" pitchFamily="34" charset="0"/>
                <a:ea typeface="Calibri" pitchFamily="34" charset="-122"/>
                <a:cs typeface="Calibri" pitchFamily="34" charset="-120"/>
              </a:rPr>
              <a:t>Shreshta Saha</a:t>
            </a:r>
          </a:p>
          <a:p>
            <a:pPr marL="285750" indent="-285750">
              <a:lnSpc>
                <a:spcPct val="125000"/>
              </a:lnSpc>
              <a:buFont typeface="Arial" panose="020B0604020202020204" pitchFamily="34" charset="0"/>
              <a:buChar char="•"/>
            </a:pPr>
            <a:r>
              <a:rPr lang="en-US" sz="1500" dirty="0">
                <a:latin typeface="Calibri" pitchFamily="34" charset="0"/>
                <a:ea typeface="Calibri" pitchFamily="34" charset="-122"/>
                <a:cs typeface="Calibri" pitchFamily="34" charset="-120"/>
              </a:rPr>
              <a:t>Shreyasree Mete</a:t>
            </a:r>
          </a:p>
        </p:txBody>
      </p:sp>
      <p:sp>
        <p:nvSpPr>
          <p:cNvPr id="22" name="Text 19"/>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
        <p:nvSpPr>
          <p:cNvPr id="23" name="Text 20"/>
          <p:cNvSpPr/>
          <p:nvPr/>
        </p:nvSpPr>
        <p:spPr>
          <a:xfrm>
            <a:off x="10271455" y="6473952"/>
            <a:ext cx="1463040" cy="274320"/>
          </a:xfrm>
          <a:prstGeom prst="rect">
            <a:avLst/>
          </a:prstGeom>
          <a:noFill/>
          <a:ln/>
        </p:spPr>
        <p:txBody>
          <a:bodyPr wrap="square" lIns="0" tIns="0" rIns="0" bIns="0" rtlCol="0" anchor="ctr"/>
          <a:lstStyle/>
          <a:p>
            <a:pPr marL="0" indent="0" algn="r">
              <a:buNone/>
            </a:pP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BEFORE &amp; AFTER</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The Impact of Data Analytics</a:t>
            </a:r>
            <a:endParaRPr lang="en-US" sz="3200" dirty="0"/>
          </a:p>
        </p:txBody>
      </p:sp>
      <p:sp>
        <p:nvSpPr>
          <p:cNvPr id="5" name="Shape 2"/>
          <p:cNvSpPr/>
          <p:nvPr/>
        </p:nvSpPr>
        <p:spPr>
          <a:xfrm>
            <a:off x="548640" y="1600200"/>
            <a:ext cx="5257800" cy="4617720"/>
          </a:xfrm>
          <a:prstGeom prst="roundRect">
            <a:avLst>
              <a:gd name="adj" fmla="val 1980"/>
            </a:avLst>
          </a:prstGeom>
          <a:solidFill>
            <a:srgbClr val="F1F8F8"/>
          </a:solidFill>
          <a:ln w="12700">
            <a:solidFill>
              <a:srgbClr val="DCEAEA"/>
            </a:solidFill>
            <a:prstDash val="solid"/>
          </a:ln>
        </p:spPr>
        <p:txBody>
          <a:bodyPr/>
          <a:lstStyle/>
          <a:p>
            <a:endParaRPr lang="en-IN"/>
          </a:p>
        </p:txBody>
      </p:sp>
      <p:sp>
        <p:nvSpPr>
          <p:cNvPr id="6" name="Shape 3"/>
          <p:cNvSpPr/>
          <p:nvPr/>
        </p:nvSpPr>
        <p:spPr>
          <a:xfrm>
            <a:off x="914400" y="1965960"/>
            <a:ext cx="868680" cy="868680"/>
          </a:xfrm>
          <a:prstGeom prst="ellipse">
            <a:avLst/>
          </a:prstGeom>
          <a:solidFill>
            <a:srgbClr val="9BC0BF"/>
          </a:solidFill>
          <a:ln/>
        </p:spPr>
        <p:txBody>
          <a:bodyPr/>
          <a:lstStyle/>
          <a:p>
            <a:endParaRPr lang="en-IN"/>
          </a:p>
        </p:txBody>
      </p:sp>
      <p:pic>
        <p:nvPicPr>
          <p:cNvPr id="7" name="Image 1" descr="/home/claude/assets/store.png"/>
          <p:cNvPicPr>
            <a:picLocks noChangeAspect="1"/>
          </p:cNvPicPr>
          <p:nvPr/>
        </p:nvPicPr>
        <p:blipFill>
          <a:blip r:embed="rId4"/>
          <a:stretch>
            <a:fillRect/>
          </a:stretch>
        </p:blipFill>
        <p:spPr>
          <a:xfrm>
            <a:off x="1105510" y="2157070"/>
            <a:ext cx="486461" cy="486461"/>
          </a:xfrm>
          <a:prstGeom prst="rect">
            <a:avLst/>
          </a:prstGeom>
        </p:spPr>
      </p:pic>
      <p:sp>
        <p:nvSpPr>
          <p:cNvPr id="8" name="Text 4"/>
          <p:cNvSpPr/>
          <p:nvPr/>
        </p:nvSpPr>
        <p:spPr>
          <a:xfrm>
            <a:off x="1965960" y="2057400"/>
            <a:ext cx="3520440" cy="365760"/>
          </a:xfrm>
          <a:prstGeom prst="rect">
            <a:avLst/>
          </a:prstGeom>
          <a:noFill/>
          <a:ln/>
        </p:spPr>
        <p:txBody>
          <a:bodyPr wrap="square" lIns="0" tIns="0" rIns="0" bIns="0" rtlCol="0" anchor="ctr"/>
          <a:lstStyle/>
          <a:p>
            <a:pPr marL="0" indent="0">
              <a:buNone/>
            </a:pPr>
            <a:r>
              <a:rPr lang="en-US" sz="1650" b="1" dirty="0">
                <a:solidFill>
                  <a:srgbClr val="54706F"/>
                </a:solidFill>
                <a:latin typeface="Cambria" pitchFamily="34" charset="0"/>
                <a:ea typeface="Cambria" pitchFamily="34" charset="-122"/>
                <a:cs typeface="Cambria" pitchFamily="34" charset="-120"/>
              </a:rPr>
              <a:t>Shop Without Data Analysis</a:t>
            </a:r>
            <a:endParaRPr lang="en-US" sz="1650" dirty="0"/>
          </a:p>
        </p:txBody>
      </p:sp>
      <p:sp>
        <p:nvSpPr>
          <p:cNvPr id="9" name="Text 5"/>
          <p:cNvSpPr/>
          <p:nvPr/>
        </p:nvSpPr>
        <p:spPr>
          <a:xfrm>
            <a:off x="1965960" y="2423160"/>
            <a:ext cx="3520440" cy="365760"/>
          </a:xfrm>
          <a:prstGeom prst="rect">
            <a:avLst/>
          </a:prstGeom>
          <a:noFill/>
          <a:ln/>
        </p:spPr>
        <p:txBody>
          <a:bodyPr wrap="square" lIns="0" tIns="0" rIns="0" bIns="0" rtlCol="0" anchor="ctr"/>
          <a:lstStyle/>
          <a:p>
            <a:pPr marL="0" indent="0">
              <a:buNone/>
            </a:pPr>
            <a:r>
              <a:rPr lang="en-US" sz="1050" dirty="0">
                <a:solidFill>
                  <a:srgbClr val="84A09F"/>
                </a:solidFill>
                <a:latin typeface="Calibri" pitchFamily="34" charset="0"/>
                <a:ea typeface="Calibri" pitchFamily="34" charset="-122"/>
                <a:cs typeface="Calibri" pitchFamily="34" charset="-120"/>
              </a:rPr>
              <a:t>Runs on memory, guesswork and manual records</a:t>
            </a:r>
            <a:endParaRPr lang="en-US" sz="1050" dirty="0"/>
          </a:p>
        </p:txBody>
      </p:sp>
      <p:sp>
        <p:nvSpPr>
          <p:cNvPr id="10" name="Shape 6"/>
          <p:cNvSpPr/>
          <p:nvPr/>
        </p:nvSpPr>
        <p:spPr>
          <a:xfrm>
            <a:off x="914400" y="3017520"/>
            <a:ext cx="457200" cy="457200"/>
          </a:xfrm>
          <a:prstGeom prst="ellipse">
            <a:avLst/>
          </a:prstGeom>
          <a:solidFill>
            <a:srgbClr val="9BC0BF"/>
          </a:solidFill>
          <a:ln/>
        </p:spPr>
        <p:txBody>
          <a:bodyPr/>
          <a:lstStyle/>
          <a:p>
            <a:endParaRPr lang="en-IN"/>
          </a:p>
        </p:txBody>
      </p:sp>
      <p:pic>
        <p:nvPicPr>
          <p:cNvPr id="11" name="Image 2" descr="/home/claude/assets/clipboard.png"/>
          <p:cNvPicPr>
            <a:picLocks noChangeAspect="1"/>
          </p:cNvPicPr>
          <p:nvPr/>
        </p:nvPicPr>
        <p:blipFill>
          <a:blip r:embed="rId5"/>
          <a:stretch>
            <a:fillRect/>
          </a:stretch>
        </p:blipFill>
        <p:spPr>
          <a:xfrm>
            <a:off x="1045464" y="3108960"/>
            <a:ext cx="256032" cy="256032"/>
          </a:xfrm>
          <a:prstGeom prst="rect">
            <a:avLst/>
          </a:prstGeom>
        </p:spPr>
      </p:pic>
      <p:sp>
        <p:nvSpPr>
          <p:cNvPr id="12" name="Text 7"/>
          <p:cNvSpPr/>
          <p:nvPr/>
        </p:nvSpPr>
        <p:spPr>
          <a:xfrm>
            <a:off x="1554480" y="2990088"/>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Manual sales tracking in registers or notebooks</a:t>
            </a:r>
            <a:endParaRPr lang="en-US" sz="1150" dirty="0"/>
          </a:p>
        </p:txBody>
      </p:sp>
      <p:sp>
        <p:nvSpPr>
          <p:cNvPr id="13" name="Shape 8"/>
          <p:cNvSpPr/>
          <p:nvPr/>
        </p:nvSpPr>
        <p:spPr>
          <a:xfrm>
            <a:off x="914400" y="3639312"/>
            <a:ext cx="457200" cy="457200"/>
          </a:xfrm>
          <a:prstGeom prst="ellipse">
            <a:avLst/>
          </a:prstGeom>
          <a:solidFill>
            <a:srgbClr val="9BC0BF"/>
          </a:solidFill>
          <a:ln/>
        </p:spPr>
        <p:txBody>
          <a:bodyPr/>
          <a:lstStyle/>
          <a:p>
            <a:endParaRPr lang="en-IN"/>
          </a:p>
        </p:txBody>
      </p:sp>
      <p:pic>
        <p:nvPicPr>
          <p:cNvPr id="14" name="Image 3" descr="/home/claude/assets/question.png"/>
          <p:cNvPicPr>
            <a:picLocks noChangeAspect="1"/>
          </p:cNvPicPr>
          <p:nvPr/>
        </p:nvPicPr>
        <p:blipFill>
          <a:blip r:embed="rId6"/>
          <a:stretch>
            <a:fillRect/>
          </a:stretch>
        </p:blipFill>
        <p:spPr>
          <a:xfrm>
            <a:off x="1014984" y="3739896"/>
            <a:ext cx="256032" cy="256032"/>
          </a:xfrm>
          <a:prstGeom prst="rect">
            <a:avLst/>
          </a:prstGeom>
        </p:spPr>
      </p:pic>
      <p:sp>
        <p:nvSpPr>
          <p:cNvPr id="15" name="Text 9"/>
          <p:cNvSpPr/>
          <p:nvPr/>
        </p:nvSpPr>
        <p:spPr>
          <a:xfrm>
            <a:off x="1554480" y="3611880"/>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Guesswork on best-selling products</a:t>
            </a:r>
            <a:endParaRPr lang="en-US" sz="1150" dirty="0"/>
          </a:p>
        </p:txBody>
      </p:sp>
      <p:sp>
        <p:nvSpPr>
          <p:cNvPr id="16" name="Shape 10"/>
          <p:cNvSpPr/>
          <p:nvPr/>
        </p:nvSpPr>
        <p:spPr>
          <a:xfrm>
            <a:off x="914400" y="4261104"/>
            <a:ext cx="457200" cy="457200"/>
          </a:xfrm>
          <a:prstGeom prst="ellipse">
            <a:avLst/>
          </a:prstGeom>
          <a:solidFill>
            <a:srgbClr val="9BC0BF"/>
          </a:solidFill>
          <a:ln/>
        </p:spPr>
        <p:txBody>
          <a:bodyPr/>
          <a:lstStyle/>
          <a:p>
            <a:endParaRPr lang="en-IN"/>
          </a:p>
        </p:txBody>
      </p:sp>
      <p:pic>
        <p:nvPicPr>
          <p:cNvPr id="17" name="Image 4" descr="/home/claude/assets/clock.png"/>
          <p:cNvPicPr>
            <a:picLocks noChangeAspect="1"/>
          </p:cNvPicPr>
          <p:nvPr/>
        </p:nvPicPr>
        <p:blipFill>
          <a:blip r:embed="rId7"/>
          <a:stretch>
            <a:fillRect/>
          </a:stretch>
        </p:blipFill>
        <p:spPr>
          <a:xfrm>
            <a:off x="1014984" y="4361688"/>
            <a:ext cx="256032" cy="256032"/>
          </a:xfrm>
          <a:prstGeom prst="rect">
            <a:avLst/>
          </a:prstGeom>
        </p:spPr>
      </p:pic>
      <p:sp>
        <p:nvSpPr>
          <p:cNvPr id="18" name="Text 11"/>
          <p:cNvSpPr/>
          <p:nvPr/>
        </p:nvSpPr>
        <p:spPr>
          <a:xfrm>
            <a:off x="1554480" y="4233672"/>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Delayed, end-of-month reporting</a:t>
            </a:r>
            <a:endParaRPr lang="en-US" sz="1150" dirty="0"/>
          </a:p>
        </p:txBody>
      </p:sp>
      <p:sp>
        <p:nvSpPr>
          <p:cNvPr id="19" name="Shape 12"/>
          <p:cNvSpPr/>
          <p:nvPr/>
        </p:nvSpPr>
        <p:spPr>
          <a:xfrm>
            <a:off x="914400" y="4882896"/>
            <a:ext cx="457200" cy="457200"/>
          </a:xfrm>
          <a:prstGeom prst="ellipse">
            <a:avLst/>
          </a:prstGeom>
          <a:solidFill>
            <a:srgbClr val="9BC0BF"/>
          </a:solidFill>
          <a:ln/>
        </p:spPr>
        <p:txBody>
          <a:bodyPr/>
          <a:lstStyle/>
          <a:p>
            <a:endParaRPr lang="en-IN"/>
          </a:p>
        </p:txBody>
      </p:sp>
      <p:pic>
        <p:nvPicPr>
          <p:cNvPr id="20" name="Image 5" descr="/home/claude/assets/eyeslash.png"/>
          <p:cNvPicPr>
            <a:picLocks noChangeAspect="1"/>
          </p:cNvPicPr>
          <p:nvPr/>
        </p:nvPicPr>
        <p:blipFill>
          <a:blip r:embed="rId8"/>
          <a:stretch>
            <a:fillRect/>
          </a:stretch>
        </p:blipFill>
        <p:spPr>
          <a:xfrm>
            <a:off x="1014984" y="4983480"/>
            <a:ext cx="256032" cy="256032"/>
          </a:xfrm>
          <a:prstGeom prst="rect">
            <a:avLst/>
          </a:prstGeom>
        </p:spPr>
      </p:pic>
      <p:sp>
        <p:nvSpPr>
          <p:cNvPr id="21" name="Text 13"/>
          <p:cNvSpPr/>
          <p:nvPr/>
        </p:nvSpPr>
        <p:spPr>
          <a:xfrm>
            <a:off x="1554480" y="4855464"/>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No visibility into customer trends</a:t>
            </a:r>
            <a:endParaRPr lang="en-US" sz="1150" dirty="0"/>
          </a:p>
        </p:txBody>
      </p:sp>
      <p:sp>
        <p:nvSpPr>
          <p:cNvPr id="22" name="Shape 14"/>
          <p:cNvSpPr/>
          <p:nvPr/>
        </p:nvSpPr>
        <p:spPr>
          <a:xfrm>
            <a:off x="914400" y="5504688"/>
            <a:ext cx="457200" cy="457200"/>
          </a:xfrm>
          <a:prstGeom prst="ellipse">
            <a:avLst/>
          </a:prstGeom>
          <a:solidFill>
            <a:srgbClr val="9BC0BF"/>
          </a:solidFill>
          <a:ln/>
        </p:spPr>
        <p:txBody>
          <a:bodyPr/>
          <a:lstStyle/>
          <a:p>
            <a:endParaRPr lang="en-IN"/>
          </a:p>
        </p:txBody>
      </p:sp>
      <p:pic>
        <p:nvPicPr>
          <p:cNvPr id="23" name="Image 6" descr="/home/claude/assets/xmark.png"/>
          <p:cNvPicPr>
            <a:picLocks noChangeAspect="1"/>
          </p:cNvPicPr>
          <p:nvPr/>
        </p:nvPicPr>
        <p:blipFill>
          <a:blip r:embed="rId9"/>
          <a:stretch>
            <a:fillRect/>
          </a:stretch>
        </p:blipFill>
        <p:spPr>
          <a:xfrm>
            <a:off x="1014984" y="5605272"/>
            <a:ext cx="256032" cy="256032"/>
          </a:xfrm>
          <a:prstGeom prst="rect">
            <a:avLst/>
          </a:prstGeom>
        </p:spPr>
      </p:pic>
      <p:sp>
        <p:nvSpPr>
          <p:cNvPr id="24" name="Text 15"/>
          <p:cNvSpPr/>
          <p:nvPr/>
        </p:nvSpPr>
        <p:spPr>
          <a:xfrm>
            <a:off x="1554480" y="5477256"/>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4706F"/>
                </a:solidFill>
                <a:latin typeface="Calibri" pitchFamily="34" charset="0"/>
                <a:ea typeface="Calibri" pitchFamily="34" charset="-122"/>
                <a:cs typeface="Calibri" pitchFamily="34" charset="-120"/>
              </a:rPr>
              <a:t>Reactive, gut-feel decision-making</a:t>
            </a:r>
            <a:endParaRPr lang="en-US" sz="1150" dirty="0"/>
          </a:p>
        </p:txBody>
      </p:sp>
      <p:sp>
        <p:nvSpPr>
          <p:cNvPr id="25" name="Shape 16"/>
          <p:cNvSpPr/>
          <p:nvPr/>
        </p:nvSpPr>
        <p:spPr>
          <a:xfrm>
            <a:off x="6126480" y="1600200"/>
            <a:ext cx="5257800" cy="4617720"/>
          </a:xfrm>
          <a:prstGeom prst="roundRect">
            <a:avLst>
              <a:gd name="adj" fmla="val 1980"/>
            </a:avLst>
          </a:prstGeom>
          <a:solidFill>
            <a:srgbClr val="74C0BD"/>
          </a:solidFill>
          <a:ln/>
        </p:spPr>
        <p:txBody>
          <a:bodyPr/>
          <a:lstStyle/>
          <a:p>
            <a:endParaRPr lang="en-IN"/>
          </a:p>
        </p:txBody>
      </p:sp>
      <p:sp>
        <p:nvSpPr>
          <p:cNvPr id="26" name="Shape 17"/>
          <p:cNvSpPr/>
          <p:nvPr/>
        </p:nvSpPr>
        <p:spPr>
          <a:xfrm>
            <a:off x="6492240" y="1965960"/>
            <a:ext cx="868680" cy="868680"/>
          </a:xfrm>
          <a:prstGeom prst="ellipse">
            <a:avLst/>
          </a:prstGeom>
          <a:solidFill>
            <a:srgbClr val="FFFFFF"/>
          </a:solidFill>
          <a:ln/>
        </p:spPr>
        <p:txBody>
          <a:bodyPr/>
          <a:lstStyle/>
          <a:p>
            <a:endParaRPr lang="en-IN"/>
          </a:p>
        </p:txBody>
      </p:sp>
      <p:pic>
        <p:nvPicPr>
          <p:cNvPr id="27" name="Image 7" descr="/home/claude/assets/store.png"/>
          <p:cNvPicPr>
            <a:picLocks noChangeAspect="1"/>
          </p:cNvPicPr>
          <p:nvPr/>
        </p:nvPicPr>
        <p:blipFill>
          <a:blip r:embed="rId4"/>
          <a:stretch>
            <a:fillRect/>
          </a:stretch>
        </p:blipFill>
        <p:spPr>
          <a:xfrm>
            <a:off x="6683350" y="2157070"/>
            <a:ext cx="486461" cy="486461"/>
          </a:xfrm>
          <a:prstGeom prst="rect">
            <a:avLst/>
          </a:prstGeom>
          <a:solidFill>
            <a:srgbClr val="00CCC5"/>
          </a:solidFill>
          <a:ln>
            <a:solidFill>
              <a:srgbClr val="00CCC5"/>
            </a:solidFill>
          </a:ln>
        </p:spPr>
      </p:pic>
      <p:sp>
        <p:nvSpPr>
          <p:cNvPr id="28" name="Text 18"/>
          <p:cNvSpPr/>
          <p:nvPr/>
        </p:nvSpPr>
        <p:spPr>
          <a:xfrm>
            <a:off x="7543800" y="2057400"/>
            <a:ext cx="3520440" cy="3657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Shop With Data Analysis</a:t>
            </a:r>
            <a:endParaRPr lang="en-US" sz="1650" dirty="0"/>
          </a:p>
        </p:txBody>
      </p:sp>
      <p:sp>
        <p:nvSpPr>
          <p:cNvPr id="29" name="Text 19"/>
          <p:cNvSpPr/>
          <p:nvPr/>
        </p:nvSpPr>
        <p:spPr>
          <a:xfrm>
            <a:off x="7543800" y="2423160"/>
            <a:ext cx="3520440" cy="365760"/>
          </a:xfrm>
          <a:prstGeom prst="rect">
            <a:avLst/>
          </a:prstGeom>
          <a:noFill/>
          <a:ln/>
        </p:spPr>
        <p:txBody>
          <a:bodyPr wrap="square" lIns="0" tIns="0" rIns="0" bIns="0" rtlCol="0" anchor="ctr"/>
          <a:lstStyle/>
          <a:p>
            <a:pPr marL="0" indent="0">
              <a:buNone/>
            </a:pPr>
            <a:r>
              <a:rPr lang="en-US" sz="1050" dirty="0">
                <a:solidFill>
                  <a:srgbClr val="DBFFFE"/>
                </a:solidFill>
                <a:latin typeface="Calibri" pitchFamily="34" charset="0"/>
                <a:ea typeface="Calibri" pitchFamily="34" charset="-122"/>
                <a:cs typeface="Calibri" pitchFamily="34" charset="-120"/>
              </a:rPr>
              <a:t>Runs on a live dashboard, not guesswork</a:t>
            </a:r>
            <a:endParaRPr lang="en-US" sz="1050" dirty="0"/>
          </a:p>
        </p:txBody>
      </p:sp>
      <p:sp>
        <p:nvSpPr>
          <p:cNvPr id="30" name="Shape 20"/>
          <p:cNvSpPr/>
          <p:nvPr/>
        </p:nvSpPr>
        <p:spPr>
          <a:xfrm>
            <a:off x="6492240" y="3017520"/>
            <a:ext cx="457200" cy="457200"/>
          </a:xfrm>
          <a:prstGeom prst="ellipse">
            <a:avLst/>
          </a:prstGeom>
          <a:solidFill>
            <a:srgbClr val="5FB89C"/>
          </a:solidFill>
          <a:ln/>
        </p:spPr>
        <p:txBody>
          <a:bodyPr/>
          <a:lstStyle/>
          <a:p>
            <a:endParaRPr lang="en-IN"/>
          </a:p>
        </p:txBody>
      </p:sp>
      <p:pic>
        <p:nvPicPr>
          <p:cNvPr id="31" name="Image 8" descr="/home/claude/assets/chart_pie.png"/>
          <p:cNvPicPr>
            <a:picLocks noChangeAspect="1"/>
          </p:cNvPicPr>
          <p:nvPr/>
        </p:nvPicPr>
        <p:blipFill>
          <a:blip r:embed="rId10"/>
          <a:stretch>
            <a:fillRect/>
          </a:stretch>
        </p:blipFill>
        <p:spPr>
          <a:xfrm>
            <a:off x="6592824" y="3118104"/>
            <a:ext cx="256032" cy="256032"/>
          </a:xfrm>
          <a:prstGeom prst="rect">
            <a:avLst/>
          </a:prstGeom>
        </p:spPr>
      </p:pic>
      <p:sp>
        <p:nvSpPr>
          <p:cNvPr id="32" name="Text 21"/>
          <p:cNvSpPr/>
          <p:nvPr/>
        </p:nvSpPr>
        <p:spPr>
          <a:xfrm>
            <a:off x="7132320" y="2990088"/>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Real-time KPI cards for revenue &amp; orders</a:t>
            </a:r>
            <a:endParaRPr lang="en-US" sz="1150" dirty="0"/>
          </a:p>
        </p:txBody>
      </p:sp>
      <p:sp>
        <p:nvSpPr>
          <p:cNvPr id="33" name="Shape 22"/>
          <p:cNvSpPr/>
          <p:nvPr/>
        </p:nvSpPr>
        <p:spPr>
          <a:xfrm>
            <a:off x="6492240" y="3639312"/>
            <a:ext cx="457200" cy="457200"/>
          </a:xfrm>
          <a:prstGeom prst="ellipse">
            <a:avLst/>
          </a:prstGeom>
          <a:solidFill>
            <a:srgbClr val="5FB89C"/>
          </a:solidFill>
          <a:ln/>
        </p:spPr>
        <p:txBody>
          <a:bodyPr/>
          <a:lstStyle/>
          <a:p>
            <a:endParaRPr lang="en-IN"/>
          </a:p>
        </p:txBody>
      </p:sp>
      <p:pic>
        <p:nvPicPr>
          <p:cNvPr id="34" name="Image 9" descr="/home/claude/assets/magchart.png"/>
          <p:cNvPicPr>
            <a:picLocks noChangeAspect="1"/>
          </p:cNvPicPr>
          <p:nvPr/>
        </p:nvPicPr>
        <p:blipFill>
          <a:blip r:embed="rId11"/>
          <a:stretch>
            <a:fillRect/>
          </a:stretch>
        </p:blipFill>
        <p:spPr>
          <a:xfrm>
            <a:off x="6592824" y="3739896"/>
            <a:ext cx="256032" cy="256032"/>
          </a:xfrm>
          <a:prstGeom prst="rect">
            <a:avLst/>
          </a:prstGeom>
        </p:spPr>
      </p:pic>
      <p:sp>
        <p:nvSpPr>
          <p:cNvPr id="35" name="Text 23"/>
          <p:cNvSpPr/>
          <p:nvPr/>
        </p:nvSpPr>
        <p:spPr>
          <a:xfrm>
            <a:off x="7132320" y="3611880"/>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Clear view of best-selling products</a:t>
            </a:r>
            <a:endParaRPr lang="en-US" sz="1150" dirty="0"/>
          </a:p>
        </p:txBody>
      </p:sp>
      <p:sp>
        <p:nvSpPr>
          <p:cNvPr id="36" name="Shape 24"/>
          <p:cNvSpPr/>
          <p:nvPr/>
        </p:nvSpPr>
        <p:spPr>
          <a:xfrm>
            <a:off x="6492240" y="4261104"/>
            <a:ext cx="457200" cy="457200"/>
          </a:xfrm>
          <a:prstGeom prst="ellipse">
            <a:avLst/>
          </a:prstGeom>
          <a:solidFill>
            <a:srgbClr val="5FB89C"/>
          </a:solidFill>
          <a:ln/>
        </p:spPr>
        <p:txBody>
          <a:bodyPr/>
          <a:lstStyle/>
          <a:p>
            <a:endParaRPr lang="en-IN"/>
          </a:p>
        </p:txBody>
      </p:sp>
      <p:pic>
        <p:nvPicPr>
          <p:cNvPr id="37" name="Image 10" descr="/home/claude/assets/bolt.png"/>
          <p:cNvPicPr>
            <a:picLocks noChangeAspect="1"/>
          </p:cNvPicPr>
          <p:nvPr/>
        </p:nvPicPr>
        <p:blipFill>
          <a:blip r:embed="rId12"/>
          <a:stretch>
            <a:fillRect/>
          </a:stretch>
        </p:blipFill>
        <p:spPr>
          <a:xfrm>
            <a:off x="6592824" y="4361688"/>
            <a:ext cx="256032" cy="256032"/>
          </a:xfrm>
          <a:prstGeom prst="rect">
            <a:avLst/>
          </a:prstGeom>
        </p:spPr>
      </p:pic>
      <p:sp>
        <p:nvSpPr>
          <p:cNvPr id="38" name="Text 25"/>
          <p:cNvSpPr/>
          <p:nvPr/>
        </p:nvSpPr>
        <p:spPr>
          <a:xfrm>
            <a:off x="7132320" y="4233672"/>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Instant, always-up-to-date reporting</a:t>
            </a:r>
            <a:endParaRPr lang="en-US" sz="1150" dirty="0"/>
          </a:p>
        </p:txBody>
      </p:sp>
      <p:sp>
        <p:nvSpPr>
          <p:cNvPr id="39" name="Shape 26"/>
          <p:cNvSpPr/>
          <p:nvPr/>
        </p:nvSpPr>
        <p:spPr>
          <a:xfrm>
            <a:off x="6492240" y="4882896"/>
            <a:ext cx="457200" cy="457200"/>
          </a:xfrm>
          <a:prstGeom prst="ellipse">
            <a:avLst/>
          </a:prstGeom>
          <a:solidFill>
            <a:srgbClr val="5FB89C"/>
          </a:solidFill>
          <a:ln/>
        </p:spPr>
        <p:txBody>
          <a:bodyPr/>
          <a:lstStyle/>
          <a:p>
            <a:endParaRPr lang="en-IN"/>
          </a:p>
        </p:txBody>
      </p:sp>
      <p:pic>
        <p:nvPicPr>
          <p:cNvPr id="40" name="Image 11" descr="/home/claude/assets/trendup.png"/>
          <p:cNvPicPr>
            <a:picLocks noChangeAspect="1"/>
          </p:cNvPicPr>
          <p:nvPr/>
        </p:nvPicPr>
        <p:blipFill>
          <a:blip r:embed="rId13"/>
          <a:stretch>
            <a:fillRect/>
          </a:stretch>
        </p:blipFill>
        <p:spPr>
          <a:xfrm>
            <a:off x="6592824" y="4983480"/>
            <a:ext cx="256032" cy="256032"/>
          </a:xfrm>
          <a:prstGeom prst="rect">
            <a:avLst/>
          </a:prstGeom>
        </p:spPr>
      </p:pic>
      <p:sp>
        <p:nvSpPr>
          <p:cNvPr id="41" name="Text 27"/>
          <p:cNvSpPr/>
          <p:nvPr/>
        </p:nvSpPr>
        <p:spPr>
          <a:xfrm>
            <a:off x="7132320" y="4855464"/>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Full visibility into customer &amp; sales trends</a:t>
            </a:r>
            <a:endParaRPr lang="en-US" sz="1150" dirty="0"/>
          </a:p>
        </p:txBody>
      </p:sp>
      <p:sp>
        <p:nvSpPr>
          <p:cNvPr id="42" name="Shape 28"/>
          <p:cNvSpPr/>
          <p:nvPr/>
        </p:nvSpPr>
        <p:spPr>
          <a:xfrm>
            <a:off x="6492240" y="5504688"/>
            <a:ext cx="457200" cy="457200"/>
          </a:xfrm>
          <a:prstGeom prst="ellipse">
            <a:avLst/>
          </a:prstGeom>
          <a:solidFill>
            <a:srgbClr val="5FB89C"/>
          </a:solidFill>
          <a:ln/>
        </p:spPr>
        <p:txBody>
          <a:bodyPr/>
          <a:lstStyle/>
          <a:p>
            <a:endParaRPr lang="en-IN"/>
          </a:p>
        </p:txBody>
      </p:sp>
      <p:pic>
        <p:nvPicPr>
          <p:cNvPr id="43" name="Image 12" descr="/home/claude/assets/check.png"/>
          <p:cNvPicPr>
            <a:picLocks noChangeAspect="1"/>
          </p:cNvPicPr>
          <p:nvPr/>
        </p:nvPicPr>
        <p:blipFill>
          <a:blip r:embed="rId14"/>
          <a:stretch>
            <a:fillRect/>
          </a:stretch>
        </p:blipFill>
        <p:spPr>
          <a:xfrm>
            <a:off x="6592824" y="5605272"/>
            <a:ext cx="256032" cy="256032"/>
          </a:xfrm>
          <a:prstGeom prst="rect">
            <a:avLst/>
          </a:prstGeom>
        </p:spPr>
      </p:pic>
      <p:sp>
        <p:nvSpPr>
          <p:cNvPr id="44" name="Text 29"/>
          <p:cNvSpPr/>
          <p:nvPr/>
        </p:nvSpPr>
        <p:spPr>
          <a:xfrm>
            <a:off x="7132320" y="5477256"/>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Confident, evidence-based decisions</a:t>
            </a:r>
            <a:endParaRPr lang="en-US" sz="1150" dirty="0"/>
          </a:p>
        </p:txBody>
      </p:sp>
      <p:sp>
        <p:nvSpPr>
          <p:cNvPr id="45" name="Shape 30"/>
          <p:cNvSpPr/>
          <p:nvPr/>
        </p:nvSpPr>
        <p:spPr>
          <a:xfrm>
            <a:off x="5673852" y="3616452"/>
            <a:ext cx="585216" cy="585216"/>
          </a:xfrm>
          <a:prstGeom prst="ellipse">
            <a:avLst/>
          </a:prstGeom>
          <a:solidFill>
            <a:srgbClr val="F6C199"/>
          </a:solidFill>
          <a:ln w="38100">
            <a:solidFill>
              <a:srgbClr val="FFFFFF"/>
            </a:solidFill>
            <a:prstDash val="solid"/>
          </a:ln>
          <a:effectLst>
            <a:outerShdw blurRad="101600" dist="25400" dir="5400000" algn="bl" rotWithShape="0">
              <a:srgbClr val="8AC4C2">
                <a:alpha val="25000"/>
              </a:srgbClr>
            </a:outerShdw>
          </a:effectLst>
        </p:spPr>
        <p:txBody>
          <a:bodyPr/>
          <a:lstStyle/>
          <a:p>
            <a:endParaRPr lang="en-IN"/>
          </a:p>
        </p:txBody>
      </p:sp>
      <p:pic>
        <p:nvPicPr>
          <p:cNvPr id="46" name="Image 13" descr="/home/claude/assets/arrow.png"/>
          <p:cNvPicPr>
            <a:picLocks noChangeAspect="1"/>
          </p:cNvPicPr>
          <p:nvPr/>
        </p:nvPicPr>
        <p:blipFill>
          <a:blip r:embed="rId15"/>
          <a:stretch>
            <a:fillRect/>
          </a:stretch>
        </p:blipFill>
        <p:spPr>
          <a:xfrm>
            <a:off x="5829300" y="3771900"/>
            <a:ext cx="274320" cy="274320"/>
          </a:xfrm>
          <a:prstGeom prst="rect">
            <a:avLst/>
          </a:prstGeom>
        </p:spPr>
      </p:pic>
      <p:sp>
        <p:nvSpPr>
          <p:cNvPr id="47" name="Text 31"/>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Project Objective</a:t>
            </a:r>
            <a:endParaRPr lang="en-US" sz="3200" dirty="0"/>
          </a:p>
        </p:txBody>
      </p:sp>
      <p:sp>
        <p:nvSpPr>
          <p:cNvPr id="5" name="Shape 2"/>
          <p:cNvSpPr/>
          <p:nvPr/>
        </p:nvSpPr>
        <p:spPr>
          <a:xfrm>
            <a:off x="548640" y="1600200"/>
            <a:ext cx="7040880" cy="4206240"/>
          </a:xfrm>
          <a:prstGeom prst="roundRect">
            <a:avLst>
              <a:gd name="adj" fmla="val 2174"/>
            </a:avLst>
          </a:prstGeom>
          <a:solidFill>
            <a:srgbClr val="F8FFFF"/>
          </a:solidFill>
          <a:ln w="12700">
            <a:solidFill>
              <a:srgbClr val="DBFFFE"/>
            </a:solidFill>
            <a:prstDash val="solid"/>
          </a:ln>
        </p:spPr>
        <p:txBody>
          <a:bodyPr/>
          <a:lstStyle/>
          <a:p>
            <a:endParaRPr lang="en-IN"/>
          </a:p>
        </p:txBody>
      </p:sp>
      <p:sp>
        <p:nvSpPr>
          <p:cNvPr id="6" name="Text 3"/>
          <p:cNvSpPr/>
          <p:nvPr/>
        </p:nvSpPr>
        <p:spPr>
          <a:xfrm>
            <a:off x="868680" y="1874520"/>
            <a:ext cx="6400800" cy="1920240"/>
          </a:xfrm>
          <a:prstGeom prst="rect">
            <a:avLst/>
          </a:prstGeom>
          <a:noFill/>
          <a:ln/>
        </p:spPr>
        <p:txBody>
          <a:bodyPr wrap="square" lIns="0" tIns="0" rIns="0" bIns="0" rtlCol="0" anchor="ctr"/>
          <a:lstStyle/>
          <a:p>
            <a:pPr marL="0" indent="0">
              <a:lnSpc>
                <a:spcPct val="135000"/>
              </a:lnSpc>
              <a:buNone/>
            </a:pPr>
            <a:r>
              <a:rPr lang="en-US" sz="1500" dirty="0">
                <a:solidFill>
                  <a:srgbClr val="44605F"/>
                </a:solidFill>
                <a:latin typeface="Calibri" pitchFamily="34" charset="0"/>
                <a:ea typeface="Calibri" pitchFamily="34" charset="-122"/>
                <a:cs typeface="Calibri" pitchFamily="34" charset="-120"/>
              </a:rPr>
              <a:t>This project analyzes the Brazilian E-commerce (Olist) dataset to build an interactive Power BI dashboard that tracks revenue, orders, and customer behavior. It helps stakeholders monitor sales trends, payment performance, and delivery efficiency in one place. The goal is to convert raw transactional data into clear, actionable business insights. Ultimately, the dashboard supports faster, data-driven decision-making across the customer journey.</a:t>
            </a:r>
            <a:endParaRPr lang="en-US" sz="1500" dirty="0"/>
          </a:p>
        </p:txBody>
      </p:sp>
      <p:sp>
        <p:nvSpPr>
          <p:cNvPr id="7" name="Shape 4"/>
          <p:cNvSpPr/>
          <p:nvPr/>
        </p:nvSpPr>
        <p:spPr>
          <a:xfrm>
            <a:off x="7909560" y="1600200"/>
            <a:ext cx="3730752" cy="4206240"/>
          </a:xfrm>
          <a:prstGeom prst="roundRect">
            <a:avLst>
              <a:gd name="adj" fmla="val 2451"/>
            </a:avLst>
          </a:prstGeom>
          <a:solidFill>
            <a:srgbClr val="74C0BD"/>
          </a:solidFill>
          <a:ln/>
        </p:spPr>
        <p:txBody>
          <a:bodyPr/>
          <a:lstStyle/>
          <a:p>
            <a:endParaRPr lang="en-IN"/>
          </a:p>
        </p:txBody>
      </p:sp>
      <p:sp>
        <p:nvSpPr>
          <p:cNvPr id="8" name="Shape 5"/>
          <p:cNvSpPr/>
          <p:nvPr/>
        </p:nvSpPr>
        <p:spPr>
          <a:xfrm>
            <a:off x="9006840" y="2148840"/>
            <a:ext cx="1508760" cy="1508760"/>
          </a:xfrm>
          <a:prstGeom prst="ellipse">
            <a:avLst/>
          </a:prstGeom>
          <a:solidFill>
            <a:srgbClr val="5FB89C"/>
          </a:solidFill>
          <a:ln/>
        </p:spPr>
        <p:txBody>
          <a:bodyPr/>
          <a:lstStyle/>
          <a:p>
            <a:endParaRPr lang="en-IN"/>
          </a:p>
        </p:txBody>
      </p:sp>
      <p:pic>
        <p:nvPicPr>
          <p:cNvPr id="9" name="Image 1" descr="/home/claude/assets/target.png"/>
          <p:cNvPicPr>
            <a:picLocks noChangeAspect="1"/>
          </p:cNvPicPr>
          <p:nvPr/>
        </p:nvPicPr>
        <p:blipFill>
          <a:blip r:embed="rId4"/>
          <a:stretch>
            <a:fillRect/>
          </a:stretch>
        </p:blipFill>
        <p:spPr>
          <a:xfrm>
            <a:off x="9338767" y="2480767"/>
            <a:ext cx="844906" cy="844906"/>
          </a:xfrm>
          <a:prstGeom prst="rect">
            <a:avLst/>
          </a:prstGeom>
        </p:spPr>
      </p:pic>
      <p:sp>
        <p:nvSpPr>
          <p:cNvPr id="10" name="Text 6"/>
          <p:cNvSpPr/>
          <p:nvPr/>
        </p:nvSpPr>
        <p:spPr>
          <a:xfrm>
            <a:off x="8001000" y="3794760"/>
            <a:ext cx="3566160" cy="685800"/>
          </a:xfrm>
          <a:prstGeom prst="rect">
            <a:avLst/>
          </a:prstGeom>
          <a:noFill/>
          <a:ln/>
        </p:spPr>
        <p:txBody>
          <a:bodyPr wrap="square" lIns="0" tIns="0" rIns="0" bIns="0" rtlCol="0" anchor="ctr"/>
          <a:lstStyle/>
          <a:p>
            <a:pPr marL="0" indent="0" algn="ctr">
              <a:lnSpc>
                <a:spcPct val="110000"/>
              </a:lnSpc>
              <a:buNone/>
            </a:pPr>
            <a:r>
              <a:rPr lang="en-US" sz="1700" b="1" dirty="0">
                <a:solidFill>
                  <a:srgbClr val="FFFFFF"/>
                </a:solidFill>
                <a:latin typeface="Cambria" pitchFamily="34" charset="0"/>
                <a:ea typeface="Cambria" pitchFamily="34" charset="-122"/>
                <a:cs typeface="Cambria" pitchFamily="34" charset="-120"/>
              </a:rPr>
              <a:t>Goal-Driven</a:t>
            </a:r>
            <a:endParaRPr lang="en-US" sz="1700" dirty="0"/>
          </a:p>
          <a:p>
            <a:pPr marL="0" indent="0" algn="ctr">
              <a:lnSpc>
                <a:spcPct val="110000"/>
              </a:lnSpc>
              <a:buNone/>
            </a:pPr>
            <a:r>
              <a:rPr lang="en-US" sz="1700" b="1" dirty="0">
                <a:solidFill>
                  <a:srgbClr val="FFFFFF"/>
                </a:solidFill>
                <a:latin typeface="Cambria" pitchFamily="34" charset="0"/>
                <a:ea typeface="Cambria" pitchFamily="34" charset="-122"/>
                <a:cs typeface="Cambria" pitchFamily="34" charset="-120"/>
              </a:rPr>
              <a:t>Dashboard</a:t>
            </a:r>
            <a:endParaRPr lang="en-US" sz="1700" dirty="0"/>
          </a:p>
        </p:txBody>
      </p:sp>
      <p:sp>
        <p:nvSpPr>
          <p:cNvPr id="11" name="Text 7"/>
          <p:cNvSpPr/>
          <p:nvPr/>
        </p:nvSpPr>
        <p:spPr>
          <a:xfrm>
            <a:off x="8001000" y="4480560"/>
            <a:ext cx="3566160" cy="640080"/>
          </a:xfrm>
          <a:prstGeom prst="rect">
            <a:avLst/>
          </a:prstGeom>
          <a:noFill/>
          <a:ln/>
        </p:spPr>
        <p:txBody>
          <a:bodyPr wrap="square" lIns="0" tIns="0" rIns="0" bIns="0" rtlCol="0" anchor="ctr"/>
          <a:lstStyle/>
          <a:p>
            <a:pPr marL="0" indent="0" algn="ctr">
              <a:lnSpc>
                <a:spcPct val="120000"/>
              </a:lnSpc>
              <a:buNone/>
            </a:pPr>
            <a:r>
              <a:rPr lang="en-US" sz="1150" dirty="0">
                <a:solidFill>
                  <a:srgbClr val="DBFFFE"/>
                </a:solidFill>
                <a:latin typeface="Calibri" pitchFamily="34" charset="0"/>
                <a:ea typeface="Calibri" pitchFamily="34" charset="-122"/>
                <a:cs typeface="Calibri" pitchFamily="34" charset="-120"/>
              </a:rPr>
              <a:t>Turning raw e-commerce data</a:t>
            </a:r>
            <a:endParaRPr lang="en-US" sz="1150" dirty="0"/>
          </a:p>
          <a:p>
            <a:pPr marL="0" indent="0" algn="ctr">
              <a:lnSpc>
                <a:spcPct val="120000"/>
              </a:lnSpc>
              <a:buNone/>
            </a:pPr>
            <a:r>
              <a:rPr lang="en-US" sz="1150" dirty="0">
                <a:solidFill>
                  <a:srgbClr val="DBFFFE"/>
                </a:solidFill>
                <a:latin typeface="Calibri" pitchFamily="34" charset="0"/>
                <a:ea typeface="Calibri" pitchFamily="34" charset="-122"/>
                <a:cs typeface="Calibri" pitchFamily="34" charset="-120"/>
              </a:rPr>
              <a:t>into business insight</a:t>
            </a:r>
            <a:endParaRPr lang="en-US" sz="1150" dirty="0"/>
          </a:p>
        </p:txBody>
      </p:sp>
      <p:sp>
        <p:nvSpPr>
          <p:cNvPr id="12" name="Text 8"/>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
        <p:nvSpPr>
          <p:cNvPr id="15" name="Shape 7">
            <a:extLst>
              <a:ext uri="{FF2B5EF4-FFF2-40B4-BE49-F238E27FC236}">
                <a16:creationId xmlns:a16="http://schemas.microsoft.com/office/drawing/2014/main" id="{2C756DD9-4B1B-7C3B-8A60-0B71A6A8F539}"/>
              </a:ext>
            </a:extLst>
          </p:cNvPr>
          <p:cNvSpPr/>
          <p:nvPr/>
        </p:nvSpPr>
        <p:spPr>
          <a:xfrm>
            <a:off x="790926" y="4387673"/>
            <a:ext cx="1539433"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17" name="Text 8">
            <a:extLst>
              <a:ext uri="{FF2B5EF4-FFF2-40B4-BE49-F238E27FC236}">
                <a16:creationId xmlns:a16="http://schemas.microsoft.com/office/drawing/2014/main" id="{954F6CFC-2157-4A04-3845-3342BAA5A080}"/>
              </a:ext>
            </a:extLst>
          </p:cNvPr>
          <p:cNvSpPr/>
          <p:nvPr/>
        </p:nvSpPr>
        <p:spPr>
          <a:xfrm>
            <a:off x="344143" y="4533977"/>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132.10K</a:t>
            </a:r>
            <a:endParaRPr lang="en-US" sz="2400" dirty="0"/>
          </a:p>
        </p:txBody>
      </p:sp>
      <p:sp>
        <p:nvSpPr>
          <p:cNvPr id="19" name="Text 9">
            <a:extLst>
              <a:ext uri="{FF2B5EF4-FFF2-40B4-BE49-F238E27FC236}">
                <a16:creationId xmlns:a16="http://schemas.microsoft.com/office/drawing/2014/main" id="{8194EC31-C642-A9FA-96E5-8FE0B07EAD58}"/>
              </a:ext>
            </a:extLst>
          </p:cNvPr>
          <p:cNvSpPr/>
          <p:nvPr/>
        </p:nvSpPr>
        <p:spPr>
          <a:xfrm>
            <a:off x="344143" y="5046041"/>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Total Revenue</a:t>
            </a:r>
            <a:endParaRPr lang="en-US" sz="1050" dirty="0"/>
          </a:p>
        </p:txBody>
      </p:sp>
      <p:sp>
        <p:nvSpPr>
          <p:cNvPr id="21" name="Shape 10">
            <a:extLst>
              <a:ext uri="{FF2B5EF4-FFF2-40B4-BE49-F238E27FC236}">
                <a16:creationId xmlns:a16="http://schemas.microsoft.com/office/drawing/2014/main" id="{AB213E14-ECDF-A75A-65EB-EC86D3DEFFCC}"/>
              </a:ext>
            </a:extLst>
          </p:cNvPr>
          <p:cNvSpPr/>
          <p:nvPr/>
        </p:nvSpPr>
        <p:spPr>
          <a:xfrm>
            <a:off x="2652683" y="4387673"/>
            <a:ext cx="1143116"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23" name="Text 11">
            <a:extLst>
              <a:ext uri="{FF2B5EF4-FFF2-40B4-BE49-F238E27FC236}">
                <a16:creationId xmlns:a16="http://schemas.microsoft.com/office/drawing/2014/main" id="{BD0AB308-CC3F-09DC-5063-90B9FCB2EA1F}"/>
              </a:ext>
            </a:extLst>
          </p:cNvPr>
          <p:cNvSpPr/>
          <p:nvPr/>
        </p:nvSpPr>
        <p:spPr>
          <a:xfrm>
            <a:off x="1994431" y="4533977"/>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501</a:t>
            </a:r>
            <a:endParaRPr lang="en-US" sz="2400" dirty="0"/>
          </a:p>
        </p:txBody>
      </p:sp>
      <p:sp>
        <p:nvSpPr>
          <p:cNvPr id="25" name="Text 12">
            <a:extLst>
              <a:ext uri="{FF2B5EF4-FFF2-40B4-BE49-F238E27FC236}">
                <a16:creationId xmlns:a16="http://schemas.microsoft.com/office/drawing/2014/main" id="{40298653-F62C-449E-5DB5-8F3D8F476EDD}"/>
              </a:ext>
            </a:extLst>
          </p:cNvPr>
          <p:cNvSpPr/>
          <p:nvPr/>
        </p:nvSpPr>
        <p:spPr>
          <a:xfrm>
            <a:off x="1994431" y="5046041"/>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Total Orders</a:t>
            </a:r>
            <a:endParaRPr lang="en-US" sz="1050" dirty="0"/>
          </a:p>
        </p:txBody>
      </p:sp>
      <p:sp>
        <p:nvSpPr>
          <p:cNvPr id="27" name="Shape 13">
            <a:extLst>
              <a:ext uri="{FF2B5EF4-FFF2-40B4-BE49-F238E27FC236}">
                <a16:creationId xmlns:a16="http://schemas.microsoft.com/office/drawing/2014/main" id="{2A8EAD26-96B7-E3E1-25BC-372A0145BB0A}"/>
              </a:ext>
            </a:extLst>
          </p:cNvPr>
          <p:cNvSpPr/>
          <p:nvPr/>
        </p:nvSpPr>
        <p:spPr>
          <a:xfrm>
            <a:off x="4126971" y="4387673"/>
            <a:ext cx="1335139"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29" name="Text 14">
            <a:extLst>
              <a:ext uri="{FF2B5EF4-FFF2-40B4-BE49-F238E27FC236}">
                <a16:creationId xmlns:a16="http://schemas.microsoft.com/office/drawing/2014/main" id="{81CD382A-21C8-A86E-E8E8-E3828B61196F}"/>
              </a:ext>
            </a:extLst>
          </p:cNvPr>
          <p:cNvSpPr/>
          <p:nvPr/>
        </p:nvSpPr>
        <p:spPr>
          <a:xfrm>
            <a:off x="3619710" y="4505330"/>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263.67</a:t>
            </a:r>
            <a:endParaRPr lang="en-US" sz="2400" dirty="0"/>
          </a:p>
        </p:txBody>
      </p:sp>
      <p:sp>
        <p:nvSpPr>
          <p:cNvPr id="31" name="Text 15">
            <a:extLst>
              <a:ext uri="{FF2B5EF4-FFF2-40B4-BE49-F238E27FC236}">
                <a16:creationId xmlns:a16="http://schemas.microsoft.com/office/drawing/2014/main" id="{556E07B5-2524-767C-B34D-C14F719A0506}"/>
              </a:ext>
            </a:extLst>
          </p:cNvPr>
          <p:cNvSpPr/>
          <p:nvPr/>
        </p:nvSpPr>
        <p:spPr>
          <a:xfrm>
            <a:off x="3619710" y="5017394"/>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Avg Order Value</a:t>
            </a:r>
            <a:endParaRPr lang="en-US" sz="1050" dirty="0"/>
          </a:p>
        </p:txBody>
      </p:sp>
      <p:sp>
        <p:nvSpPr>
          <p:cNvPr id="33" name="Shape 16">
            <a:extLst>
              <a:ext uri="{FF2B5EF4-FFF2-40B4-BE49-F238E27FC236}">
                <a16:creationId xmlns:a16="http://schemas.microsoft.com/office/drawing/2014/main" id="{503E0813-DBEC-D3E2-FB68-F9F4FE07CB82}"/>
              </a:ext>
            </a:extLst>
          </p:cNvPr>
          <p:cNvSpPr/>
          <p:nvPr/>
        </p:nvSpPr>
        <p:spPr>
          <a:xfrm>
            <a:off x="5793282" y="4387673"/>
            <a:ext cx="1567331" cy="1051560"/>
          </a:xfrm>
          <a:prstGeom prst="roundRect">
            <a:avLst>
              <a:gd name="adj" fmla="val 6957"/>
            </a:avLst>
          </a:prstGeom>
          <a:solidFill>
            <a:srgbClr val="FFFFFF"/>
          </a:solidFill>
          <a:ln w="12700">
            <a:solidFill>
              <a:srgbClr val="DBFFFE"/>
            </a:solidFill>
            <a:prstDash val="solid"/>
          </a:ln>
          <a:effectLst>
            <a:outerShdw blurRad="101600" dist="25400" dir="5400000" algn="bl" rotWithShape="0">
              <a:srgbClr val="8AC4C2">
                <a:alpha val="18000"/>
              </a:srgbClr>
            </a:outerShdw>
          </a:effectLst>
        </p:spPr>
        <p:txBody>
          <a:bodyPr/>
          <a:lstStyle/>
          <a:p>
            <a:endParaRPr lang="en-IN"/>
          </a:p>
        </p:txBody>
      </p:sp>
      <p:sp>
        <p:nvSpPr>
          <p:cNvPr id="35" name="Text 17">
            <a:extLst>
              <a:ext uri="{FF2B5EF4-FFF2-40B4-BE49-F238E27FC236}">
                <a16:creationId xmlns:a16="http://schemas.microsoft.com/office/drawing/2014/main" id="{6A0E9692-8C9D-F6A5-31B8-58E23E5B9C6C}"/>
              </a:ext>
            </a:extLst>
          </p:cNvPr>
          <p:cNvSpPr/>
          <p:nvPr/>
        </p:nvSpPr>
        <p:spPr>
          <a:xfrm>
            <a:off x="5373622" y="4486811"/>
            <a:ext cx="2395728" cy="502920"/>
          </a:xfrm>
          <a:prstGeom prst="rect">
            <a:avLst/>
          </a:prstGeom>
          <a:noFill/>
          <a:ln/>
        </p:spPr>
        <p:txBody>
          <a:bodyPr wrap="square" lIns="0" tIns="0" rIns="0" bIns="0" rtlCol="0" anchor="ctr"/>
          <a:lstStyle/>
          <a:p>
            <a:pPr marL="0" indent="0" algn="ctr">
              <a:buNone/>
            </a:pPr>
            <a:r>
              <a:rPr lang="en-US" sz="2400" b="1" dirty="0">
                <a:solidFill>
                  <a:srgbClr val="74C0BD"/>
                </a:solidFill>
                <a:latin typeface="Cambria" pitchFamily="34" charset="0"/>
                <a:ea typeface="Cambria" pitchFamily="34" charset="-122"/>
                <a:cs typeface="Cambria" pitchFamily="34" charset="-120"/>
              </a:rPr>
              <a:t>69</a:t>
            </a:r>
            <a:endParaRPr lang="en-US" sz="2400" dirty="0"/>
          </a:p>
        </p:txBody>
      </p:sp>
      <p:sp>
        <p:nvSpPr>
          <p:cNvPr id="37" name="Text 18">
            <a:extLst>
              <a:ext uri="{FF2B5EF4-FFF2-40B4-BE49-F238E27FC236}">
                <a16:creationId xmlns:a16="http://schemas.microsoft.com/office/drawing/2014/main" id="{E9F04CD4-357C-B74C-57E1-0A1B193D5489}"/>
              </a:ext>
            </a:extLst>
          </p:cNvPr>
          <p:cNvSpPr/>
          <p:nvPr/>
        </p:nvSpPr>
        <p:spPr>
          <a:xfrm>
            <a:off x="5373622" y="4998875"/>
            <a:ext cx="2395728" cy="320040"/>
          </a:xfrm>
          <a:prstGeom prst="rect">
            <a:avLst/>
          </a:prstGeom>
          <a:noFill/>
          <a:ln/>
        </p:spPr>
        <p:txBody>
          <a:bodyPr wrap="square" lIns="0" tIns="0" rIns="0" bIns="0" rtlCol="0" anchor="ctr"/>
          <a:lstStyle/>
          <a:p>
            <a:pPr marL="0" indent="0" algn="ctr">
              <a:buNone/>
            </a:pPr>
            <a:r>
              <a:rPr lang="en-US" sz="1050" dirty="0">
                <a:solidFill>
                  <a:srgbClr val="79A09F"/>
                </a:solidFill>
                <a:latin typeface="Calibri" pitchFamily="34" charset="0"/>
                <a:ea typeface="Calibri" pitchFamily="34" charset="-122"/>
                <a:cs typeface="Calibri" pitchFamily="34" charset="-120"/>
              </a:rPr>
              <a:t>New Customers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Tools &amp; Technologies Used</a:t>
            </a:r>
            <a:endParaRPr lang="en-US" sz="3200" dirty="0"/>
          </a:p>
        </p:txBody>
      </p:sp>
      <p:sp>
        <p:nvSpPr>
          <p:cNvPr id="5" name="Shape 2"/>
          <p:cNvSpPr/>
          <p:nvPr/>
        </p:nvSpPr>
        <p:spPr>
          <a:xfrm>
            <a:off x="548640" y="1645920"/>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6" name="Shape 3"/>
          <p:cNvSpPr/>
          <p:nvPr/>
        </p:nvSpPr>
        <p:spPr>
          <a:xfrm>
            <a:off x="804672" y="1901952"/>
            <a:ext cx="566928" cy="566928"/>
          </a:xfrm>
          <a:prstGeom prst="ellipse">
            <a:avLst/>
          </a:prstGeom>
          <a:solidFill>
            <a:srgbClr val="74C0BD"/>
          </a:solidFill>
          <a:ln/>
        </p:spPr>
        <p:txBody>
          <a:bodyPr/>
          <a:lstStyle/>
          <a:p>
            <a:endParaRPr lang="en-IN"/>
          </a:p>
        </p:txBody>
      </p:sp>
      <p:pic>
        <p:nvPicPr>
          <p:cNvPr id="7" name="Image 1" descr="/home/claude/assets/gear.png"/>
          <p:cNvPicPr>
            <a:picLocks noChangeAspect="1"/>
          </p:cNvPicPr>
          <p:nvPr/>
        </p:nvPicPr>
        <p:blipFill>
          <a:blip r:embed="rId4"/>
          <a:stretch>
            <a:fillRect/>
          </a:stretch>
        </p:blipFill>
        <p:spPr>
          <a:xfrm>
            <a:off x="929396" y="2026676"/>
            <a:ext cx="317480" cy="317480"/>
          </a:xfrm>
          <a:prstGeom prst="rect">
            <a:avLst/>
          </a:prstGeom>
        </p:spPr>
      </p:pic>
      <p:sp>
        <p:nvSpPr>
          <p:cNvPr id="8" name="Text 4"/>
          <p:cNvSpPr/>
          <p:nvPr/>
        </p:nvSpPr>
        <p:spPr>
          <a:xfrm>
            <a:off x="804672" y="2578608"/>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Power BI Desktop</a:t>
            </a:r>
            <a:endParaRPr lang="en-US" sz="1450" dirty="0"/>
          </a:p>
        </p:txBody>
      </p:sp>
      <p:sp>
        <p:nvSpPr>
          <p:cNvPr id="9" name="Text 5"/>
          <p:cNvSpPr/>
          <p:nvPr/>
        </p:nvSpPr>
        <p:spPr>
          <a:xfrm>
            <a:off x="80467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Core platform used to build the interactive dashboard and reports.</a:t>
            </a:r>
            <a:endParaRPr lang="en-US" sz="1050" dirty="0"/>
          </a:p>
        </p:txBody>
      </p:sp>
      <p:sp>
        <p:nvSpPr>
          <p:cNvPr id="10" name="Shape 6"/>
          <p:cNvSpPr/>
          <p:nvPr/>
        </p:nvSpPr>
        <p:spPr>
          <a:xfrm>
            <a:off x="4343400" y="1645920"/>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1" name="Shape 7"/>
          <p:cNvSpPr/>
          <p:nvPr/>
        </p:nvSpPr>
        <p:spPr>
          <a:xfrm>
            <a:off x="4599432" y="1901952"/>
            <a:ext cx="566928" cy="566928"/>
          </a:xfrm>
          <a:prstGeom prst="ellipse">
            <a:avLst/>
          </a:prstGeom>
          <a:solidFill>
            <a:srgbClr val="74C0BD"/>
          </a:solidFill>
          <a:ln/>
        </p:spPr>
        <p:txBody>
          <a:bodyPr/>
          <a:lstStyle/>
          <a:p>
            <a:endParaRPr lang="en-IN"/>
          </a:p>
        </p:txBody>
      </p:sp>
      <p:pic>
        <p:nvPicPr>
          <p:cNvPr id="12" name="Image 2" descr="/home/claude/assets/wand.png"/>
          <p:cNvPicPr>
            <a:picLocks noChangeAspect="1"/>
          </p:cNvPicPr>
          <p:nvPr/>
        </p:nvPicPr>
        <p:blipFill>
          <a:blip r:embed="rId5"/>
          <a:stretch>
            <a:fillRect/>
          </a:stretch>
        </p:blipFill>
        <p:spPr>
          <a:xfrm>
            <a:off x="4724156" y="2026676"/>
            <a:ext cx="317480" cy="317480"/>
          </a:xfrm>
          <a:prstGeom prst="rect">
            <a:avLst/>
          </a:prstGeom>
        </p:spPr>
      </p:pic>
      <p:sp>
        <p:nvSpPr>
          <p:cNvPr id="13" name="Text 8"/>
          <p:cNvSpPr/>
          <p:nvPr/>
        </p:nvSpPr>
        <p:spPr>
          <a:xfrm>
            <a:off x="4599432" y="2578608"/>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Power Query</a:t>
            </a:r>
            <a:endParaRPr lang="en-US" sz="1450" dirty="0"/>
          </a:p>
        </p:txBody>
      </p:sp>
      <p:sp>
        <p:nvSpPr>
          <p:cNvPr id="14" name="Text 9"/>
          <p:cNvSpPr/>
          <p:nvPr/>
        </p:nvSpPr>
        <p:spPr>
          <a:xfrm>
            <a:off x="459943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Cleaned, transformed and merged the Sales, Payments &amp; Delivery tables.</a:t>
            </a:r>
            <a:endParaRPr lang="en-US" sz="1050" dirty="0"/>
          </a:p>
        </p:txBody>
      </p:sp>
      <p:sp>
        <p:nvSpPr>
          <p:cNvPr id="15" name="Shape 10"/>
          <p:cNvSpPr/>
          <p:nvPr/>
        </p:nvSpPr>
        <p:spPr>
          <a:xfrm>
            <a:off x="8138160" y="1645920"/>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6" name="Shape 11"/>
          <p:cNvSpPr/>
          <p:nvPr/>
        </p:nvSpPr>
        <p:spPr>
          <a:xfrm>
            <a:off x="8394192" y="1901952"/>
            <a:ext cx="566928" cy="566928"/>
          </a:xfrm>
          <a:prstGeom prst="ellipse">
            <a:avLst/>
          </a:prstGeom>
          <a:solidFill>
            <a:srgbClr val="74C0BD"/>
          </a:solidFill>
          <a:ln/>
        </p:spPr>
        <p:txBody>
          <a:bodyPr/>
          <a:lstStyle/>
          <a:p>
            <a:endParaRPr lang="en-IN"/>
          </a:p>
        </p:txBody>
      </p:sp>
      <p:pic>
        <p:nvPicPr>
          <p:cNvPr id="17" name="Image 3" descr="/home/claude/assets/layer.png"/>
          <p:cNvPicPr>
            <a:picLocks noChangeAspect="1"/>
          </p:cNvPicPr>
          <p:nvPr/>
        </p:nvPicPr>
        <p:blipFill>
          <a:blip r:embed="rId6"/>
          <a:stretch>
            <a:fillRect/>
          </a:stretch>
        </p:blipFill>
        <p:spPr>
          <a:xfrm>
            <a:off x="8518916" y="2026676"/>
            <a:ext cx="317480" cy="317480"/>
          </a:xfrm>
          <a:prstGeom prst="rect">
            <a:avLst/>
          </a:prstGeom>
        </p:spPr>
      </p:pic>
      <p:sp>
        <p:nvSpPr>
          <p:cNvPr id="18" name="Text 12"/>
          <p:cNvSpPr/>
          <p:nvPr/>
        </p:nvSpPr>
        <p:spPr>
          <a:xfrm>
            <a:off x="8394192" y="2578608"/>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Modeling</a:t>
            </a:r>
            <a:endParaRPr lang="en-US" sz="1450" dirty="0"/>
          </a:p>
        </p:txBody>
      </p:sp>
      <p:sp>
        <p:nvSpPr>
          <p:cNvPr id="19" name="Text 13"/>
          <p:cNvSpPr/>
          <p:nvPr/>
        </p:nvSpPr>
        <p:spPr>
          <a:xfrm>
            <a:off x="839419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Built relationships across tables for accurate cross-filtering.</a:t>
            </a:r>
            <a:endParaRPr lang="en-US" sz="1050" dirty="0"/>
          </a:p>
        </p:txBody>
      </p:sp>
      <p:sp>
        <p:nvSpPr>
          <p:cNvPr id="20" name="Shape 14"/>
          <p:cNvSpPr/>
          <p:nvPr/>
        </p:nvSpPr>
        <p:spPr>
          <a:xfrm>
            <a:off x="54864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1" name="Shape 15"/>
          <p:cNvSpPr/>
          <p:nvPr/>
        </p:nvSpPr>
        <p:spPr>
          <a:xfrm>
            <a:off x="804672" y="4069080"/>
            <a:ext cx="566928" cy="566928"/>
          </a:xfrm>
          <a:prstGeom prst="ellipse">
            <a:avLst/>
          </a:prstGeom>
          <a:solidFill>
            <a:srgbClr val="74C0BD"/>
          </a:solidFill>
          <a:ln/>
        </p:spPr>
        <p:txBody>
          <a:bodyPr/>
          <a:lstStyle/>
          <a:p>
            <a:endParaRPr lang="en-IN"/>
          </a:p>
        </p:txBody>
      </p:sp>
      <p:pic>
        <p:nvPicPr>
          <p:cNvPr id="22" name="Image 4" descr="/home/claude/assets/bolt.png"/>
          <p:cNvPicPr>
            <a:picLocks noChangeAspect="1"/>
          </p:cNvPicPr>
          <p:nvPr/>
        </p:nvPicPr>
        <p:blipFill>
          <a:blip r:embed="rId7"/>
          <a:stretch>
            <a:fillRect/>
          </a:stretch>
        </p:blipFill>
        <p:spPr>
          <a:xfrm>
            <a:off x="929396" y="4193804"/>
            <a:ext cx="317480" cy="317480"/>
          </a:xfrm>
          <a:prstGeom prst="rect">
            <a:avLst/>
          </a:prstGeom>
        </p:spPr>
      </p:pic>
      <p:sp>
        <p:nvSpPr>
          <p:cNvPr id="23" name="Text 16"/>
          <p:cNvSpPr/>
          <p:nvPr/>
        </p:nvSpPr>
        <p:spPr>
          <a:xfrm>
            <a:off x="80467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DAX Measures</a:t>
            </a:r>
            <a:endParaRPr lang="en-US" sz="1450" dirty="0"/>
          </a:p>
        </p:txBody>
      </p:sp>
      <p:sp>
        <p:nvSpPr>
          <p:cNvPr id="24" name="Text 17"/>
          <p:cNvSpPr/>
          <p:nvPr/>
        </p:nvSpPr>
        <p:spPr>
          <a:xfrm>
            <a:off x="80467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Custom formulas for revenue, AOV, on-time delivery % and more.</a:t>
            </a:r>
            <a:endParaRPr lang="en-US" sz="1050" dirty="0"/>
          </a:p>
        </p:txBody>
      </p:sp>
      <p:sp>
        <p:nvSpPr>
          <p:cNvPr id="25" name="Shape 18"/>
          <p:cNvSpPr/>
          <p:nvPr/>
        </p:nvSpPr>
        <p:spPr>
          <a:xfrm>
            <a:off x="434340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6" name="Shape 19"/>
          <p:cNvSpPr/>
          <p:nvPr/>
        </p:nvSpPr>
        <p:spPr>
          <a:xfrm>
            <a:off x="4599432" y="4069080"/>
            <a:ext cx="566928" cy="566928"/>
          </a:xfrm>
          <a:prstGeom prst="ellipse">
            <a:avLst/>
          </a:prstGeom>
          <a:solidFill>
            <a:srgbClr val="74C0BD"/>
          </a:solidFill>
          <a:ln/>
        </p:spPr>
        <p:txBody>
          <a:bodyPr/>
          <a:lstStyle/>
          <a:p>
            <a:endParaRPr lang="en-IN"/>
          </a:p>
        </p:txBody>
      </p:sp>
      <p:pic>
        <p:nvPicPr>
          <p:cNvPr id="27" name="Image 5" descr="/home/claude/assets/filter.png"/>
          <p:cNvPicPr>
            <a:picLocks noChangeAspect="1"/>
          </p:cNvPicPr>
          <p:nvPr/>
        </p:nvPicPr>
        <p:blipFill>
          <a:blip r:embed="rId8"/>
          <a:stretch>
            <a:fillRect/>
          </a:stretch>
        </p:blipFill>
        <p:spPr>
          <a:xfrm>
            <a:off x="4724156" y="4193804"/>
            <a:ext cx="317480" cy="317480"/>
          </a:xfrm>
          <a:prstGeom prst="rect">
            <a:avLst/>
          </a:prstGeom>
        </p:spPr>
      </p:pic>
      <p:sp>
        <p:nvSpPr>
          <p:cNvPr id="28" name="Text 20"/>
          <p:cNvSpPr/>
          <p:nvPr/>
        </p:nvSpPr>
        <p:spPr>
          <a:xfrm>
            <a:off x="459943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Interactive Slicers</a:t>
            </a:r>
            <a:endParaRPr lang="en-US" sz="1450" dirty="0"/>
          </a:p>
        </p:txBody>
      </p:sp>
      <p:sp>
        <p:nvSpPr>
          <p:cNvPr id="29" name="Text 21"/>
          <p:cNvSpPr/>
          <p:nvPr/>
        </p:nvSpPr>
        <p:spPr>
          <a:xfrm>
            <a:off x="459943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Segment, state, order status and payment-type filters.</a:t>
            </a:r>
            <a:endParaRPr lang="en-US" sz="1050" dirty="0"/>
          </a:p>
        </p:txBody>
      </p:sp>
      <p:sp>
        <p:nvSpPr>
          <p:cNvPr id="30" name="Shape 22"/>
          <p:cNvSpPr/>
          <p:nvPr/>
        </p:nvSpPr>
        <p:spPr>
          <a:xfrm>
            <a:off x="813816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31" name="Shape 23"/>
          <p:cNvSpPr/>
          <p:nvPr/>
        </p:nvSpPr>
        <p:spPr>
          <a:xfrm>
            <a:off x="8394192" y="4069080"/>
            <a:ext cx="566928" cy="566928"/>
          </a:xfrm>
          <a:prstGeom prst="ellipse">
            <a:avLst/>
          </a:prstGeom>
          <a:solidFill>
            <a:srgbClr val="74C0BD"/>
          </a:solidFill>
          <a:ln/>
        </p:spPr>
        <p:txBody>
          <a:bodyPr/>
          <a:lstStyle/>
          <a:p>
            <a:endParaRPr lang="en-IN"/>
          </a:p>
        </p:txBody>
      </p:sp>
      <p:pic>
        <p:nvPicPr>
          <p:cNvPr id="32" name="Image 6" descr="/home/claude/assets/file_excel.png"/>
          <p:cNvPicPr>
            <a:picLocks noChangeAspect="1"/>
          </p:cNvPicPr>
          <p:nvPr/>
        </p:nvPicPr>
        <p:blipFill>
          <a:blip r:embed="rId9"/>
          <a:stretch>
            <a:fillRect/>
          </a:stretch>
        </p:blipFill>
        <p:spPr>
          <a:xfrm>
            <a:off x="8518916" y="4193804"/>
            <a:ext cx="317480" cy="317480"/>
          </a:xfrm>
          <a:prstGeom prst="rect">
            <a:avLst/>
          </a:prstGeom>
        </p:spPr>
      </p:pic>
      <p:sp>
        <p:nvSpPr>
          <p:cNvPr id="33" name="Text 24"/>
          <p:cNvSpPr/>
          <p:nvPr/>
        </p:nvSpPr>
        <p:spPr>
          <a:xfrm>
            <a:off x="839419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Excel Data Source</a:t>
            </a:r>
            <a:endParaRPr lang="en-US" sz="1450" dirty="0"/>
          </a:p>
        </p:txBody>
      </p:sp>
      <p:sp>
        <p:nvSpPr>
          <p:cNvPr id="34" name="Text 25"/>
          <p:cNvSpPr/>
          <p:nvPr/>
        </p:nvSpPr>
        <p:spPr>
          <a:xfrm>
            <a:off x="839419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Raw Olist dataset imported and refreshed from .xlsx files.</a:t>
            </a:r>
            <a:endParaRPr lang="en-US" sz="1050" dirty="0"/>
          </a:p>
        </p:txBody>
      </p:sp>
      <p:sp>
        <p:nvSpPr>
          <p:cNvPr id="35"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STEP 05</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Customer Analysis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69 new customers acquired this period, growing the active base</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3.66 / 5 average review score across delivered orders</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Top 10 VIP customers contribute 21% of total revenue</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Customer Rank by Revenue highlights high-value repeat buyers</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Is Top 10 Customer flag pinpoints VIP accounts instantly</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Segment &amp; state slicers isolate any customer group in one click</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7109612" y="1783080"/>
            <a:ext cx="3245815" cy="4206240"/>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STEP 06</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Sales Analysis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132.10K total revenue generated across 501 orders</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263.67 average order value (AOV) per transaction</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Electronics leads all categories with 32.4K in revenue</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8.45K total discount given against 123.65K net revenue</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Monthly trend view tracks revenue momentum order by order</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Total Quantity sold reveals demand beyond order count alone</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5943600" y="1894114"/>
            <a:ext cx="5577840" cy="3984171"/>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74C0BD"/>
                </a:solidFill>
                <a:latin typeface="Calibri" pitchFamily="34" charset="0"/>
                <a:ea typeface="Calibri" pitchFamily="34" charset="-122"/>
                <a:cs typeface="Calibri" pitchFamily="34" charset="-120"/>
              </a:rPr>
              <a:t>STEP 07</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Delivery Analysis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61% of orders delivered on or before the estimated date</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39% of deliveries arrive later than the promised date</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4.6% cancelled order rate flags at-risk fulfillment</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13.88K in payment value failed or refunded, tracked for recovery</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Avg Review Score sits at 3.66 / 5, dipping whenever delivery runs late</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Status &amp; state slicers isolate delivery issues by region instantly</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5943600" y="1886974"/>
            <a:ext cx="5577840" cy="3998451"/>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Key Features</a:t>
            </a:r>
            <a:endParaRPr lang="en-US" sz="3200" dirty="0"/>
          </a:p>
        </p:txBody>
      </p:sp>
      <p:sp>
        <p:nvSpPr>
          <p:cNvPr id="5" name="Shape 2"/>
          <p:cNvSpPr/>
          <p:nvPr/>
        </p:nvSpPr>
        <p:spPr>
          <a:xfrm>
            <a:off x="548640" y="1691640"/>
            <a:ext cx="457200" cy="457200"/>
          </a:xfrm>
          <a:prstGeom prst="ellipse">
            <a:avLst/>
          </a:prstGeom>
          <a:solidFill>
            <a:srgbClr val="74C0BD"/>
          </a:solidFill>
          <a:ln/>
        </p:spPr>
        <p:txBody>
          <a:bodyPr/>
          <a:lstStyle/>
          <a:p>
            <a:endParaRPr lang="en-IN"/>
          </a:p>
        </p:txBody>
      </p:sp>
      <p:pic>
        <p:nvPicPr>
          <p:cNvPr id="6" name="Image 1" descr="/home/claude/assets/chart_pie.png"/>
          <p:cNvPicPr>
            <a:picLocks noChangeAspect="1"/>
          </p:cNvPicPr>
          <p:nvPr/>
        </p:nvPicPr>
        <p:blipFill>
          <a:blip r:embed="rId4"/>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5 KPI cards — revenue, orders, AOV, new customers, refunds</a:t>
            </a:r>
            <a:endParaRPr lang="en-US" sz="1250" dirty="0"/>
          </a:p>
        </p:txBody>
      </p:sp>
      <p:sp>
        <p:nvSpPr>
          <p:cNvPr id="8" name="Shape 4"/>
          <p:cNvSpPr/>
          <p:nvPr/>
        </p:nvSpPr>
        <p:spPr>
          <a:xfrm>
            <a:off x="548640" y="2295144"/>
            <a:ext cx="457200" cy="457200"/>
          </a:xfrm>
          <a:prstGeom prst="ellipse">
            <a:avLst/>
          </a:prstGeom>
          <a:solidFill>
            <a:srgbClr val="74C0BD"/>
          </a:solidFill>
          <a:ln/>
        </p:spPr>
        <p:txBody>
          <a:bodyPr/>
          <a:lstStyle/>
          <a:p>
            <a:endParaRPr lang="en-IN"/>
          </a:p>
        </p:txBody>
      </p:sp>
      <p:pic>
        <p:nvPicPr>
          <p:cNvPr id="9" name="Image 2" descr="/home/claude/assets/map.png"/>
          <p:cNvPicPr>
            <a:picLocks noChangeAspect="1"/>
          </p:cNvPicPr>
          <p:nvPr/>
        </p:nvPicPr>
        <p:blipFill>
          <a:blip r:embed="rId5"/>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Geographic view of orders by customer state</a:t>
            </a:r>
            <a:endParaRPr lang="en-US" sz="1250" dirty="0"/>
          </a:p>
        </p:txBody>
      </p:sp>
      <p:sp>
        <p:nvSpPr>
          <p:cNvPr id="11" name="Shape 6"/>
          <p:cNvSpPr/>
          <p:nvPr/>
        </p:nvSpPr>
        <p:spPr>
          <a:xfrm>
            <a:off x="548640" y="2898648"/>
            <a:ext cx="457200" cy="457200"/>
          </a:xfrm>
          <a:prstGeom prst="ellipse">
            <a:avLst/>
          </a:prstGeom>
          <a:solidFill>
            <a:srgbClr val="74C0BD"/>
          </a:solidFill>
          <a:ln/>
        </p:spPr>
        <p:txBody>
          <a:bodyPr/>
          <a:lstStyle/>
          <a:p>
            <a:endParaRPr lang="en-IN"/>
          </a:p>
        </p:txBody>
      </p:sp>
      <p:pic>
        <p:nvPicPr>
          <p:cNvPr id="12" name="Image 3" descr="/home/claude/assets/chart.png"/>
          <p:cNvPicPr>
            <a:picLocks noChangeAspect="1"/>
          </p:cNvPicPr>
          <p:nvPr/>
        </p:nvPicPr>
        <p:blipFill>
          <a:blip r:embed="rId6"/>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Monthly revenue &amp; order trend analysis</a:t>
            </a:r>
            <a:endParaRPr lang="en-US" sz="1250" dirty="0"/>
          </a:p>
        </p:txBody>
      </p:sp>
      <p:sp>
        <p:nvSpPr>
          <p:cNvPr id="14" name="Shape 8"/>
          <p:cNvSpPr/>
          <p:nvPr/>
        </p:nvSpPr>
        <p:spPr>
          <a:xfrm>
            <a:off x="548640" y="3502152"/>
            <a:ext cx="457200" cy="457200"/>
          </a:xfrm>
          <a:prstGeom prst="ellipse">
            <a:avLst/>
          </a:prstGeom>
          <a:solidFill>
            <a:srgbClr val="74C0BD"/>
          </a:solidFill>
          <a:ln/>
        </p:spPr>
        <p:txBody>
          <a:bodyPr/>
          <a:lstStyle/>
          <a:p>
            <a:endParaRPr lang="en-IN"/>
          </a:p>
        </p:txBody>
      </p:sp>
      <p:pic>
        <p:nvPicPr>
          <p:cNvPr id="15" name="Image 4" descr="/home/claude/assets/star.png"/>
          <p:cNvPicPr>
            <a:picLocks noChangeAspect="1"/>
          </p:cNvPicPr>
          <p:nvPr/>
        </p:nvPicPr>
        <p:blipFill>
          <a:blip r:embed="rId7"/>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Top-10 customer ranking &amp; average review score</a:t>
            </a:r>
            <a:endParaRPr lang="en-US" sz="1250" dirty="0"/>
          </a:p>
        </p:txBody>
      </p:sp>
      <p:sp>
        <p:nvSpPr>
          <p:cNvPr id="17" name="Shape 10"/>
          <p:cNvSpPr/>
          <p:nvPr/>
        </p:nvSpPr>
        <p:spPr>
          <a:xfrm>
            <a:off x="548640" y="4105656"/>
            <a:ext cx="457200" cy="457200"/>
          </a:xfrm>
          <a:prstGeom prst="ellipse">
            <a:avLst/>
          </a:prstGeom>
          <a:solidFill>
            <a:srgbClr val="74C0BD"/>
          </a:solidFill>
          <a:ln/>
        </p:spPr>
        <p:txBody>
          <a:bodyPr/>
          <a:lstStyle/>
          <a:p>
            <a:endParaRPr lang="en-IN"/>
          </a:p>
        </p:txBody>
      </p:sp>
      <p:pic>
        <p:nvPicPr>
          <p:cNvPr id="18" name="Image 5" descr="/home/claude/assets/creditcard.png"/>
          <p:cNvPicPr>
            <a:picLocks noChangeAspect="1"/>
          </p:cNvPicPr>
          <p:nvPr/>
        </p:nvPicPr>
        <p:blipFill>
          <a:blip r:embed="rId8"/>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Payment type and delivery performance breakdown</a:t>
            </a:r>
            <a:endParaRPr lang="en-US" sz="1250" dirty="0"/>
          </a:p>
        </p:txBody>
      </p:sp>
      <p:sp>
        <p:nvSpPr>
          <p:cNvPr id="20" name="Shape 12"/>
          <p:cNvSpPr/>
          <p:nvPr/>
        </p:nvSpPr>
        <p:spPr>
          <a:xfrm>
            <a:off x="548640" y="4709160"/>
            <a:ext cx="457200" cy="457200"/>
          </a:xfrm>
          <a:prstGeom prst="ellipse">
            <a:avLst/>
          </a:prstGeom>
          <a:solidFill>
            <a:srgbClr val="74C0BD"/>
          </a:solidFill>
          <a:ln/>
        </p:spPr>
        <p:txBody>
          <a:bodyPr/>
          <a:lstStyle/>
          <a:p>
            <a:endParaRPr lang="en-IN"/>
          </a:p>
        </p:txBody>
      </p:sp>
      <p:pic>
        <p:nvPicPr>
          <p:cNvPr id="21" name="Image 6" descr="/home/claude/assets/filter.png"/>
          <p:cNvPicPr>
            <a:picLocks noChangeAspect="1"/>
          </p:cNvPicPr>
          <p:nvPr/>
        </p:nvPicPr>
        <p:blipFill>
          <a:blip r:embed="rId9"/>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4605F"/>
                </a:solidFill>
                <a:latin typeface="Calibri" pitchFamily="34" charset="0"/>
                <a:ea typeface="Calibri" pitchFamily="34" charset="-122"/>
                <a:cs typeface="Calibri" pitchFamily="34" charset="-120"/>
              </a:rPr>
              <a:t>Dynamic slicers for state, segment, status &amp; category</a:t>
            </a:r>
            <a:endParaRPr lang="en-US" sz="1250" dirty="0"/>
          </a:p>
        </p:txBody>
      </p:sp>
      <p:sp>
        <p:nvSpPr>
          <p:cNvPr id="23" name="Shape 14"/>
          <p:cNvSpPr/>
          <p:nvPr/>
        </p:nvSpPr>
        <p:spPr>
          <a:xfrm>
            <a:off x="5806440" y="1645920"/>
            <a:ext cx="5852160" cy="3557016"/>
          </a:xfrm>
          <a:prstGeom prst="roundRect">
            <a:avLst>
              <a:gd name="adj" fmla="val 1224"/>
            </a:avLst>
          </a:prstGeom>
          <a:solidFill>
            <a:srgbClr val="FFFFFF"/>
          </a:solidFill>
          <a:ln w="19050">
            <a:solidFill>
              <a:srgbClr val="DBFFFE"/>
            </a:solidFill>
            <a:prstDash val="solid"/>
          </a:ln>
          <a:effectLst>
            <a:outerShdw blurRad="127000" dist="38100" dir="5400000" algn="bl" rotWithShape="0">
              <a:srgbClr val="000000">
                <a:alpha val="18000"/>
              </a:srgbClr>
            </a:outerShdw>
          </a:effectLst>
        </p:spPr>
        <p:txBody>
          <a:bodyPr/>
          <a:lstStyle/>
          <a:p>
            <a:endParaRPr lang="en-IN"/>
          </a:p>
        </p:txBody>
      </p:sp>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pic>
        <p:nvPicPr>
          <p:cNvPr id="26" name="Picture 25">
            <a:extLst>
              <a:ext uri="{FF2B5EF4-FFF2-40B4-BE49-F238E27FC236}">
                <a16:creationId xmlns:a16="http://schemas.microsoft.com/office/drawing/2014/main" id="{2684C9B7-6063-44BD-0DAF-447839268550}"/>
              </a:ext>
            </a:extLst>
          </p:cNvPr>
          <p:cNvPicPr>
            <a:picLocks noChangeAspect="1"/>
          </p:cNvPicPr>
          <p:nvPr/>
        </p:nvPicPr>
        <p:blipFill>
          <a:blip r:embed="rId10"/>
          <a:stretch>
            <a:fillRect/>
          </a:stretch>
        </p:blipFill>
        <p:spPr>
          <a:xfrm>
            <a:off x="5915607" y="1792224"/>
            <a:ext cx="5627169" cy="32735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Learning Outcome</a:t>
            </a:r>
            <a:endParaRPr lang="en-US" sz="3200" dirty="0"/>
          </a:p>
        </p:txBody>
      </p:sp>
      <p:sp>
        <p:nvSpPr>
          <p:cNvPr id="5" name="Shape 2"/>
          <p:cNvSpPr/>
          <p:nvPr/>
        </p:nvSpPr>
        <p:spPr>
          <a:xfrm>
            <a:off x="4343400" y="1636776"/>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6" name="Shape 3"/>
          <p:cNvSpPr/>
          <p:nvPr/>
        </p:nvSpPr>
        <p:spPr>
          <a:xfrm>
            <a:off x="4599432" y="1892808"/>
            <a:ext cx="566928" cy="566928"/>
          </a:xfrm>
          <a:prstGeom prst="ellipse">
            <a:avLst/>
          </a:prstGeom>
          <a:solidFill>
            <a:srgbClr val="74C0BD"/>
          </a:solidFill>
          <a:ln/>
        </p:spPr>
        <p:txBody>
          <a:bodyPr/>
          <a:lstStyle/>
          <a:p>
            <a:endParaRPr lang="en-IN"/>
          </a:p>
        </p:txBody>
      </p:sp>
      <p:pic>
        <p:nvPicPr>
          <p:cNvPr id="7" name="Image 1" descr="/home/claude/assets/bolt.png"/>
          <p:cNvPicPr>
            <a:picLocks noChangeAspect="1"/>
          </p:cNvPicPr>
          <p:nvPr/>
        </p:nvPicPr>
        <p:blipFill>
          <a:blip r:embed="rId4"/>
          <a:stretch>
            <a:fillRect/>
          </a:stretch>
        </p:blipFill>
        <p:spPr>
          <a:xfrm>
            <a:off x="4724156" y="2017532"/>
            <a:ext cx="317480" cy="317480"/>
          </a:xfrm>
          <a:prstGeom prst="rect">
            <a:avLst/>
          </a:prstGeom>
        </p:spPr>
      </p:pic>
      <p:sp>
        <p:nvSpPr>
          <p:cNvPr id="8" name="Text 4"/>
          <p:cNvSpPr/>
          <p:nvPr/>
        </p:nvSpPr>
        <p:spPr>
          <a:xfrm>
            <a:off x="4599432" y="2569464"/>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DAX &amp; Measures</a:t>
            </a:r>
            <a:endParaRPr lang="en-US" sz="1450" dirty="0"/>
          </a:p>
        </p:txBody>
      </p:sp>
      <p:sp>
        <p:nvSpPr>
          <p:cNvPr id="9" name="Text 5"/>
          <p:cNvSpPr/>
          <p:nvPr/>
        </p:nvSpPr>
        <p:spPr>
          <a:xfrm>
            <a:off x="4599432" y="2935224"/>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Wrote DAX formulas for KPIs like AOV and on-time delivery %.</a:t>
            </a:r>
            <a:endParaRPr lang="en-US" sz="1050" dirty="0"/>
          </a:p>
        </p:txBody>
      </p:sp>
      <p:sp>
        <p:nvSpPr>
          <p:cNvPr id="10" name="Shape 6"/>
          <p:cNvSpPr/>
          <p:nvPr/>
        </p:nvSpPr>
        <p:spPr>
          <a:xfrm>
            <a:off x="8138160" y="1636776"/>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1" name="Shape 7"/>
          <p:cNvSpPr/>
          <p:nvPr/>
        </p:nvSpPr>
        <p:spPr>
          <a:xfrm>
            <a:off x="8394192" y="1892808"/>
            <a:ext cx="566928" cy="566928"/>
          </a:xfrm>
          <a:prstGeom prst="ellipse">
            <a:avLst/>
          </a:prstGeom>
          <a:solidFill>
            <a:srgbClr val="74C0BD"/>
          </a:solidFill>
          <a:ln/>
        </p:spPr>
        <p:txBody>
          <a:bodyPr/>
          <a:lstStyle/>
          <a:p>
            <a:endParaRPr lang="en-IN"/>
          </a:p>
        </p:txBody>
      </p:sp>
      <p:pic>
        <p:nvPicPr>
          <p:cNvPr id="12" name="Image 2" descr="/home/claude/assets/layer.png"/>
          <p:cNvPicPr>
            <a:picLocks noChangeAspect="1"/>
          </p:cNvPicPr>
          <p:nvPr/>
        </p:nvPicPr>
        <p:blipFill>
          <a:blip r:embed="rId5"/>
          <a:stretch>
            <a:fillRect/>
          </a:stretch>
        </p:blipFill>
        <p:spPr>
          <a:xfrm>
            <a:off x="8518916" y="2017532"/>
            <a:ext cx="317480" cy="317480"/>
          </a:xfrm>
          <a:prstGeom prst="rect">
            <a:avLst/>
          </a:prstGeom>
        </p:spPr>
      </p:pic>
      <p:sp>
        <p:nvSpPr>
          <p:cNvPr id="13" name="Text 8"/>
          <p:cNvSpPr/>
          <p:nvPr/>
        </p:nvSpPr>
        <p:spPr>
          <a:xfrm>
            <a:off x="8394192" y="2569464"/>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Modeling</a:t>
            </a:r>
            <a:endParaRPr lang="en-US" sz="1450" dirty="0"/>
          </a:p>
        </p:txBody>
      </p:sp>
      <p:sp>
        <p:nvSpPr>
          <p:cNvPr id="14" name="Text 9"/>
          <p:cNvSpPr/>
          <p:nvPr/>
        </p:nvSpPr>
        <p:spPr>
          <a:xfrm>
            <a:off x="8394192" y="2935224"/>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Built relationships across multiple related tables.</a:t>
            </a:r>
            <a:endParaRPr lang="en-US" sz="1050" dirty="0"/>
          </a:p>
        </p:txBody>
      </p:sp>
      <p:sp>
        <p:nvSpPr>
          <p:cNvPr id="15" name="Shape 10"/>
          <p:cNvSpPr/>
          <p:nvPr/>
        </p:nvSpPr>
        <p:spPr>
          <a:xfrm>
            <a:off x="548640" y="1636776"/>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16" name="Shape 11"/>
          <p:cNvSpPr/>
          <p:nvPr/>
        </p:nvSpPr>
        <p:spPr>
          <a:xfrm>
            <a:off x="804672" y="1892808"/>
            <a:ext cx="566928" cy="566928"/>
          </a:xfrm>
          <a:prstGeom prst="ellipse">
            <a:avLst/>
          </a:prstGeom>
          <a:solidFill>
            <a:srgbClr val="74C0BD"/>
          </a:solidFill>
          <a:ln/>
        </p:spPr>
        <p:txBody>
          <a:bodyPr/>
          <a:lstStyle/>
          <a:p>
            <a:endParaRPr lang="en-IN"/>
          </a:p>
        </p:txBody>
      </p:sp>
      <p:pic>
        <p:nvPicPr>
          <p:cNvPr id="17" name="Image 3" descr="/home/claude/assets/wand.png"/>
          <p:cNvPicPr>
            <a:picLocks noChangeAspect="1"/>
          </p:cNvPicPr>
          <p:nvPr/>
        </p:nvPicPr>
        <p:blipFill>
          <a:blip r:embed="rId6"/>
          <a:stretch>
            <a:fillRect/>
          </a:stretch>
        </p:blipFill>
        <p:spPr>
          <a:xfrm>
            <a:off x="929396" y="2017532"/>
            <a:ext cx="317480" cy="317480"/>
          </a:xfrm>
          <a:prstGeom prst="rect">
            <a:avLst/>
          </a:prstGeom>
        </p:spPr>
      </p:pic>
      <p:sp>
        <p:nvSpPr>
          <p:cNvPr id="18" name="Text 12"/>
          <p:cNvSpPr/>
          <p:nvPr/>
        </p:nvSpPr>
        <p:spPr>
          <a:xfrm>
            <a:off x="804672" y="2569464"/>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Cleaning</a:t>
            </a:r>
            <a:endParaRPr lang="en-US" sz="1450" dirty="0"/>
          </a:p>
        </p:txBody>
      </p:sp>
      <p:sp>
        <p:nvSpPr>
          <p:cNvPr id="19" name="Text 13"/>
          <p:cNvSpPr/>
          <p:nvPr/>
        </p:nvSpPr>
        <p:spPr>
          <a:xfrm>
            <a:off x="804672" y="2935224"/>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Used Power Query to shape and merge raw Excel data.</a:t>
            </a:r>
            <a:endParaRPr lang="en-US" sz="1050" dirty="0"/>
          </a:p>
        </p:txBody>
      </p:sp>
      <p:sp>
        <p:nvSpPr>
          <p:cNvPr id="20" name="Shape 14"/>
          <p:cNvSpPr/>
          <p:nvPr/>
        </p:nvSpPr>
        <p:spPr>
          <a:xfrm>
            <a:off x="54864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1" name="Shape 15"/>
          <p:cNvSpPr/>
          <p:nvPr/>
        </p:nvSpPr>
        <p:spPr>
          <a:xfrm>
            <a:off x="804672" y="4069080"/>
            <a:ext cx="566928" cy="566928"/>
          </a:xfrm>
          <a:prstGeom prst="ellipse">
            <a:avLst/>
          </a:prstGeom>
          <a:solidFill>
            <a:srgbClr val="74C0BD"/>
          </a:solidFill>
          <a:ln/>
        </p:spPr>
        <p:txBody>
          <a:bodyPr/>
          <a:lstStyle/>
          <a:p>
            <a:endParaRPr lang="en-IN"/>
          </a:p>
        </p:txBody>
      </p:sp>
      <p:pic>
        <p:nvPicPr>
          <p:cNvPr id="22" name="Image 4" descr="/home/claude/assets/puzzle.png"/>
          <p:cNvPicPr>
            <a:picLocks noChangeAspect="1"/>
          </p:cNvPicPr>
          <p:nvPr/>
        </p:nvPicPr>
        <p:blipFill>
          <a:blip r:embed="rId7"/>
          <a:stretch>
            <a:fillRect/>
          </a:stretch>
        </p:blipFill>
        <p:spPr>
          <a:xfrm>
            <a:off x="929396" y="4193804"/>
            <a:ext cx="317480" cy="317480"/>
          </a:xfrm>
          <a:prstGeom prst="rect">
            <a:avLst/>
          </a:prstGeom>
        </p:spPr>
      </p:pic>
      <p:sp>
        <p:nvSpPr>
          <p:cNvPr id="23" name="Text 16"/>
          <p:cNvSpPr/>
          <p:nvPr/>
        </p:nvSpPr>
        <p:spPr>
          <a:xfrm>
            <a:off x="80467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Dashboard UX</a:t>
            </a:r>
            <a:endParaRPr lang="en-US" sz="1450" dirty="0"/>
          </a:p>
        </p:txBody>
      </p:sp>
      <p:sp>
        <p:nvSpPr>
          <p:cNvPr id="24" name="Text 17"/>
          <p:cNvSpPr/>
          <p:nvPr/>
        </p:nvSpPr>
        <p:spPr>
          <a:xfrm>
            <a:off x="80467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Designed clear, filterable, decision-ready dashboard layouts.</a:t>
            </a:r>
            <a:endParaRPr lang="en-US" sz="1050" dirty="0"/>
          </a:p>
        </p:txBody>
      </p:sp>
      <p:sp>
        <p:nvSpPr>
          <p:cNvPr id="25" name="Shape 18"/>
          <p:cNvSpPr/>
          <p:nvPr/>
        </p:nvSpPr>
        <p:spPr>
          <a:xfrm>
            <a:off x="434340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26" name="Shape 19"/>
          <p:cNvSpPr/>
          <p:nvPr/>
        </p:nvSpPr>
        <p:spPr>
          <a:xfrm>
            <a:off x="4599432" y="4069080"/>
            <a:ext cx="566928" cy="566928"/>
          </a:xfrm>
          <a:prstGeom prst="ellipse">
            <a:avLst/>
          </a:prstGeom>
          <a:solidFill>
            <a:srgbClr val="74C0BD"/>
          </a:solidFill>
          <a:ln/>
        </p:spPr>
        <p:txBody>
          <a:bodyPr/>
          <a:lstStyle/>
          <a:p>
            <a:endParaRPr lang="en-IN"/>
          </a:p>
        </p:txBody>
      </p:sp>
      <p:pic>
        <p:nvPicPr>
          <p:cNvPr id="27" name="Image 5" descr="/home/claude/assets/lightbulb.png"/>
          <p:cNvPicPr>
            <a:picLocks noChangeAspect="1"/>
          </p:cNvPicPr>
          <p:nvPr/>
        </p:nvPicPr>
        <p:blipFill>
          <a:blip r:embed="rId8"/>
          <a:stretch>
            <a:fillRect/>
          </a:stretch>
        </p:blipFill>
        <p:spPr>
          <a:xfrm>
            <a:off x="4724156" y="4193804"/>
            <a:ext cx="317480" cy="317480"/>
          </a:xfrm>
          <a:prstGeom prst="rect">
            <a:avLst/>
          </a:prstGeom>
        </p:spPr>
      </p:pic>
      <p:sp>
        <p:nvSpPr>
          <p:cNvPr id="28" name="Text 20"/>
          <p:cNvSpPr/>
          <p:nvPr/>
        </p:nvSpPr>
        <p:spPr>
          <a:xfrm>
            <a:off x="459943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Data Storytelling</a:t>
            </a:r>
            <a:endParaRPr lang="en-US" sz="1450" dirty="0"/>
          </a:p>
        </p:txBody>
      </p:sp>
      <p:sp>
        <p:nvSpPr>
          <p:cNvPr id="29" name="Text 21"/>
          <p:cNvSpPr/>
          <p:nvPr/>
        </p:nvSpPr>
        <p:spPr>
          <a:xfrm>
            <a:off x="459943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Translated numbers into insights stakeholders can act on.</a:t>
            </a:r>
            <a:endParaRPr lang="en-US" sz="1050" dirty="0"/>
          </a:p>
        </p:txBody>
      </p:sp>
      <p:sp>
        <p:nvSpPr>
          <p:cNvPr id="30" name="Shape 22"/>
          <p:cNvSpPr/>
          <p:nvPr/>
        </p:nvSpPr>
        <p:spPr>
          <a:xfrm>
            <a:off x="8138160" y="3813048"/>
            <a:ext cx="3611880" cy="1965960"/>
          </a:xfrm>
          <a:prstGeom prst="roundRect">
            <a:avLst>
              <a:gd name="adj" fmla="val 4186"/>
            </a:avLst>
          </a:prstGeom>
          <a:solidFill>
            <a:srgbClr val="F8FFFF"/>
          </a:solidFill>
          <a:ln w="12700">
            <a:solidFill>
              <a:srgbClr val="DBFFFE"/>
            </a:solidFill>
            <a:prstDash val="solid"/>
          </a:ln>
        </p:spPr>
        <p:txBody>
          <a:bodyPr/>
          <a:lstStyle/>
          <a:p>
            <a:endParaRPr lang="en-IN"/>
          </a:p>
        </p:txBody>
      </p:sp>
      <p:sp>
        <p:nvSpPr>
          <p:cNvPr id="31" name="Shape 23"/>
          <p:cNvSpPr/>
          <p:nvPr/>
        </p:nvSpPr>
        <p:spPr>
          <a:xfrm>
            <a:off x="8394192" y="4069080"/>
            <a:ext cx="566928" cy="566928"/>
          </a:xfrm>
          <a:prstGeom prst="ellipse">
            <a:avLst/>
          </a:prstGeom>
          <a:solidFill>
            <a:srgbClr val="74C0BD"/>
          </a:solidFill>
          <a:ln/>
        </p:spPr>
        <p:txBody>
          <a:bodyPr/>
          <a:lstStyle/>
          <a:p>
            <a:endParaRPr lang="en-IN"/>
          </a:p>
        </p:txBody>
      </p:sp>
      <p:pic>
        <p:nvPicPr>
          <p:cNvPr id="32" name="Image 6" descr="/home/claude/assets/brain.png"/>
          <p:cNvPicPr>
            <a:picLocks noChangeAspect="1"/>
          </p:cNvPicPr>
          <p:nvPr/>
        </p:nvPicPr>
        <p:blipFill>
          <a:blip r:embed="rId9"/>
          <a:stretch>
            <a:fillRect/>
          </a:stretch>
        </p:blipFill>
        <p:spPr>
          <a:xfrm>
            <a:off x="8518916" y="4193804"/>
            <a:ext cx="317480" cy="317480"/>
          </a:xfrm>
          <a:prstGeom prst="rect">
            <a:avLst/>
          </a:prstGeom>
        </p:spPr>
      </p:pic>
      <p:sp>
        <p:nvSpPr>
          <p:cNvPr id="33" name="Text 24"/>
          <p:cNvSpPr/>
          <p:nvPr/>
        </p:nvSpPr>
        <p:spPr>
          <a:xfrm>
            <a:off x="8394192" y="4745736"/>
            <a:ext cx="3108960" cy="365760"/>
          </a:xfrm>
          <a:prstGeom prst="rect">
            <a:avLst/>
          </a:prstGeom>
          <a:noFill/>
          <a:ln/>
        </p:spPr>
        <p:txBody>
          <a:bodyPr wrap="square" lIns="0" tIns="0" rIns="0" bIns="0" rtlCol="0" anchor="ctr"/>
          <a:lstStyle/>
          <a:p>
            <a:pPr marL="0" indent="0">
              <a:buNone/>
            </a:pPr>
            <a:r>
              <a:rPr lang="en-US" sz="1450" b="1" dirty="0">
                <a:solidFill>
                  <a:srgbClr val="3F6B6A"/>
                </a:solidFill>
                <a:latin typeface="Cambria" pitchFamily="34" charset="0"/>
                <a:ea typeface="Cambria" pitchFamily="34" charset="-122"/>
                <a:cs typeface="Cambria" pitchFamily="34" charset="-120"/>
              </a:rPr>
              <a:t>Problem Solving</a:t>
            </a:r>
            <a:endParaRPr lang="en-US" sz="1450" dirty="0"/>
          </a:p>
        </p:txBody>
      </p:sp>
      <p:sp>
        <p:nvSpPr>
          <p:cNvPr id="34" name="Text 25"/>
          <p:cNvSpPr/>
          <p:nvPr/>
        </p:nvSpPr>
        <p:spPr>
          <a:xfrm>
            <a:off x="839419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79A09F"/>
                </a:solidFill>
                <a:latin typeface="Calibri" pitchFamily="34" charset="0"/>
                <a:ea typeface="Calibri" pitchFamily="34" charset="-122"/>
                <a:cs typeface="Calibri" pitchFamily="34" charset="-120"/>
              </a:rPr>
              <a:t>Worked through real-world, messy e-commerce data challenges.</a:t>
            </a:r>
            <a:endParaRPr lang="en-US" sz="1050" dirty="0"/>
          </a:p>
        </p:txBody>
      </p:sp>
      <p:sp>
        <p:nvSpPr>
          <p:cNvPr id="35"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E7FFFE"/>
        </a:solidFill>
        <a:effectLst/>
      </p:bgPr>
    </p:bg>
    <p:spTree>
      <p:nvGrpSpPr>
        <p:cNvPr id="1" name=""/>
        <p:cNvGrpSpPr/>
        <p:nvPr/>
      </p:nvGrpSpPr>
      <p:grpSpPr>
        <a:xfrm>
          <a:off x="0" y="0"/>
          <a:ext cx="0" cy="0"/>
          <a:chOff x="0" y="0"/>
          <a:chExt cx="0" cy="0"/>
        </a:xfrm>
      </p:grpSpPr>
      <p:pic>
        <p:nvPicPr>
          <p:cNvPr id="4"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6" name="Text 3"/>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3F6B6A"/>
                </a:solidFill>
                <a:latin typeface="Cambria" pitchFamily="34" charset="0"/>
                <a:ea typeface="Cambria" pitchFamily="34" charset="-122"/>
                <a:cs typeface="Cambria" pitchFamily="34" charset="-120"/>
              </a:rPr>
              <a:t>Conclusion</a:t>
            </a:r>
            <a:endParaRPr lang="en-US" sz="3200" dirty="0"/>
          </a:p>
        </p:txBody>
      </p:sp>
      <p:sp>
        <p:nvSpPr>
          <p:cNvPr id="7" name="Text 4"/>
          <p:cNvSpPr/>
          <p:nvPr/>
        </p:nvSpPr>
        <p:spPr>
          <a:xfrm>
            <a:off x="566928" y="1691640"/>
            <a:ext cx="6400800" cy="2926080"/>
          </a:xfrm>
          <a:prstGeom prst="rect">
            <a:avLst/>
          </a:prstGeom>
          <a:noFill/>
          <a:ln/>
        </p:spPr>
        <p:txBody>
          <a:bodyPr wrap="square" lIns="0" tIns="0" rIns="0" bIns="0" rtlCol="0" anchor="ctr"/>
          <a:lstStyle/>
          <a:p>
            <a:pPr marL="0" indent="0">
              <a:lnSpc>
                <a:spcPct val="140000"/>
              </a:lnSpc>
              <a:buNone/>
            </a:pPr>
            <a:r>
              <a:rPr lang="en-US" sz="1450" dirty="0">
                <a:solidFill>
                  <a:srgbClr val="44605F"/>
                </a:solidFill>
                <a:latin typeface="Calibri" pitchFamily="34" charset="0"/>
                <a:ea typeface="Calibri" pitchFamily="34" charset="-122"/>
                <a:cs typeface="Calibri" pitchFamily="34" charset="-120"/>
              </a:rPr>
              <a:t>The E-commerce Customer Analytics dashboard turns raw Olist transaction data into a single, interactive view of revenue, orders, customer segments and delivery performance. Business users can filter by state, segment, payment type and order status to answer questions in seconds rather than hours. The project demonstrates a complete, practical Power BI workflow — from messy multi-table data to a polished, decision-ready dashboard.</a:t>
            </a:r>
            <a:endParaRPr lang="en-US" sz="1450" dirty="0"/>
          </a:p>
        </p:txBody>
      </p:sp>
      <p:sp>
        <p:nvSpPr>
          <p:cNvPr id="8" name="Shape 5"/>
          <p:cNvSpPr/>
          <p:nvPr/>
        </p:nvSpPr>
        <p:spPr>
          <a:xfrm>
            <a:off x="548640" y="4892040"/>
            <a:ext cx="6446520" cy="1051560"/>
          </a:xfrm>
          <a:prstGeom prst="roundRect">
            <a:avLst>
              <a:gd name="adj" fmla="val 7826"/>
            </a:avLst>
          </a:prstGeom>
          <a:solidFill>
            <a:srgbClr val="FFFFFF"/>
          </a:solidFill>
          <a:ln/>
        </p:spPr>
        <p:txBody>
          <a:bodyPr/>
          <a:lstStyle/>
          <a:p>
            <a:endParaRPr lang="en-IN"/>
          </a:p>
        </p:txBody>
      </p:sp>
      <p:sp>
        <p:nvSpPr>
          <p:cNvPr id="9" name="Shape 6"/>
          <p:cNvSpPr/>
          <p:nvPr/>
        </p:nvSpPr>
        <p:spPr>
          <a:xfrm>
            <a:off x="749808" y="5102352"/>
            <a:ext cx="621792" cy="621792"/>
          </a:xfrm>
          <a:prstGeom prst="ellipse">
            <a:avLst/>
          </a:prstGeom>
          <a:solidFill>
            <a:srgbClr val="74C0BD"/>
          </a:solidFill>
          <a:ln/>
        </p:spPr>
        <p:txBody>
          <a:bodyPr/>
          <a:lstStyle/>
          <a:p>
            <a:endParaRPr lang="en-IN"/>
          </a:p>
        </p:txBody>
      </p:sp>
      <p:pic>
        <p:nvPicPr>
          <p:cNvPr id="10" name="Image 1" descr="/home/claude/assets/check.png"/>
          <p:cNvPicPr>
            <a:picLocks noChangeAspect="1"/>
          </p:cNvPicPr>
          <p:nvPr/>
        </p:nvPicPr>
        <p:blipFill>
          <a:blip r:embed="rId4"/>
          <a:stretch>
            <a:fillRect/>
          </a:stretch>
        </p:blipFill>
        <p:spPr>
          <a:xfrm>
            <a:off x="886602" y="5239146"/>
            <a:ext cx="348204" cy="348204"/>
          </a:xfrm>
          <a:prstGeom prst="rect">
            <a:avLst/>
          </a:prstGeom>
        </p:spPr>
      </p:pic>
      <p:sp>
        <p:nvSpPr>
          <p:cNvPr id="11" name="Text 7"/>
          <p:cNvSpPr/>
          <p:nvPr/>
        </p:nvSpPr>
        <p:spPr>
          <a:xfrm>
            <a:off x="1508760" y="4956048"/>
            <a:ext cx="5349240" cy="914400"/>
          </a:xfrm>
          <a:prstGeom prst="rect">
            <a:avLst/>
          </a:prstGeom>
          <a:noFill/>
          <a:ln/>
        </p:spPr>
        <p:txBody>
          <a:bodyPr wrap="square" lIns="0" tIns="0" rIns="0" bIns="0" rtlCol="0" anchor="ctr"/>
          <a:lstStyle/>
          <a:p>
            <a:pPr marL="0" indent="0">
              <a:lnSpc>
                <a:spcPct val="125000"/>
              </a:lnSpc>
              <a:buNone/>
            </a:pPr>
            <a:r>
              <a:rPr lang="en-US" sz="1150" b="1" dirty="0">
                <a:solidFill>
                  <a:srgbClr val="3F6B6A"/>
                </a:solidFill>
                <a:latin typeface="Calibri" pitchFamily="34" charset="0"/>
                <a:ea typeface="Calibri" pitchFamily="34" charset="-122"/>
                <a:cs typeface="Calibri" pitchFamily="34" charset="-120"/>
              </a:rPr>
              <a:t>Key Takeaway:  </a:t>
            </a:r>
            <a:r>
              <a:rPr lang="en-US" sz="1150" dirty="0">
                <a:solidFill>
                  <a:srgbClr val="44605F"/>
                </a:solidFill>
                <a:latin typeface="Calibri" pitchFamily="34" charset="0"/>
                <a:ea typeface="Calibri" pitchFamily="34" charset="-122"/>
                <a:cs typeface="Calibri" pitchFamily="34" charset="-120"/>
              </a:rPr>
              <a:t>A fully self-serve BI dashboard that shortens the path from raw e-commerce data to confident business decisions.</a:t>
            </a:r>
            <a:endParaRPr lang="en-US" sz="1150" dirty="0"/>
          </a:p>
        </p:txBody>
      </p:sp>
      <p:sp>
        <p:nvSpPr>
          <p:cNvPr id="12" name="Shape 8"/>
          <p:cNvSpPr/>
          <p:nvPr/>
        </p:nvSpPr>
        <p:spPr>
          <a:xfrm>
            <a:off x="7818120" y="1737360"/>
            <a:ext cx="3822192" cy="777240"/>
          </a:xfrm>
          <a:prstGeom prst="roundRect">
            <a:avLst>
              <a:gd name="adj" fmla="val 9412"/>
            </a:avLst>
          </a:prstGeom>
          <a:solidFill>
            <a:srgbClr val="FFFFFF"/>
          </a:solidFill>
          <a:ln w="12700">
            <a:solidFill>
              <a:srgbClr val="DBFFFE"/>
            </a:solidFill>
            <a:prstDash val="solid"/>
          </a:ln>
          <a:effectLst>
            <a:outerShdw blurRad="101600" dist="25400" dir="5400000" algn="bl" rotWithShape="0">
              <a:srgbClr val="8AC4C2">
                <a:alpha val="16000"/>
              </a:srgbClr>
            </a:outerShdw>
          </a:effectLst>
        </p:spPr>
        <p:txBody>
          <a:bodyPr/>
          <a:lstStyle/>
          <a:p>
            <a:endParaRPr lang="en-IN"/>
          </a:p>
        </p:txBody>
      </p:sp>
      <p:sp>
        <p:nvSpPr>
          <p:cNvPr id="13" name="Shape 9"/>
          <p:cNvSpPr/>
          <p:nvPr/>
        </p:nvSpPr>
        <p:spPr>
          <a:xfrm>
            <a:off x="8001000" y="1883664"/>
            <a:ext cx="475488" cy="475488"/>
          </a:xfrm>
          <a:prstGeom prst="ellipse">
            <a:avLst/>
          </a:prstGeom>
          <a:solidFill>
            <a:srgbClr val="74C0BD"/>
          </a:solidFill>
          <a:ln/>
        </p:spPr>
        <p:txBody>
          <a:bodyPr/>
          <a:lstStyle/>
          <a:p>
            <a:endParaRPr lang="en-IN"/>
          </a:p>
        </p:txBody>
      </p:sp>
      <p:pic>
        <p:nvPicPr>
          <p:cNvPr id="14" name="Image 2" descr="/home/claude/assets/cart.png"/>
          <p:cNvPicPr>
            <a:picLocks noChangeAspect="1"/>
          </p:cNvPicPr>
          <p:nvPr/>
        </p:nvPicPr>
        <p:blipFill>
          <a:blip r:embed="rId5"/>
          <a:stretch>
            <a:fillRect/>
          </a:stretch>
        </p:blipFill>
        <p:spPr>
          <a:xfrm>
            <a:off x="8105607" y="1988271"/>
            <a:ext cx="266273" cy="266273"/>
          </a:xfrm>
          <a:prstGeom prst="rect">
            <a:avLst/>
          </a:prstGeom>
        </p:spPr>
      </p:pic>
      <p:sp>
        <p:nvSpPr>
          <p:cNvPr id="15" name="Text 10"/>
          <p:cNvSpPr/>
          <p:nvPr/>
        </p:nvSpPr>
        <p:spPr>
          <a:xfrm>
            <a:off x="8613648" y="1737360"/>
            <a:ext cx="2926080" cy="777240"/>
          </a:xfrm>
          <a:prstGeom prst="rect">
            <a:avLst/>
          </a:prstGeom>
          <a:noFill/>
          <a:ln/>
        </p:spPr>
        <p:txBody>
          <a:bodyPr wrap="square" lIns="0" tIns="0" rIns="0" bIns="0" rtlCol="0" anchor="ctr"/>
          <a:lstStyle/>
          <a:p>
            <a:pPr marL="0" indent="0">
              <a:buNone/>
            </a:pPr>
            <a:r>
              <a:rPr lang="en-US" sz="1250" b="1" dirty="0">
                <a:solidFill>
                  <a:srgbClr val="3F6B6A"/>
                </a:solidFill>
                <a:latin typeface="Calibri" pitchFamily="34" charset="0"/>
                <a:ea typeface="Calibri" pitchFamily="34" charset="-122"/>
                <a:cs typeface="Calibri" pitchFamily="34" charset="-120"/>
              </a:rPr>
              <a:t>Orders analyzed</a:t>
            </a:r>
            <a:endParaRPr lang="en-US" sz="1250" dirty="0"/>
          </a:p>
        </p:txBody>
      </p:sp>
      <p:sp>
        <p:nvSpPr>
          <p:cNvPr id="16" name="Shape 11"/>
          <p:cNvSpPr/>
          <p:nvPr/>
        </p:nvSpPr>
        <p:spPr>
          <a:xfrm>
            <a:off x="7818120" y="2697480"/>
            <a:ext cx="3822192" cy="777240"/>
          </a:xfrm>
          <a:prstGeom prst="roundRect">
            <a:avLst>
              <a:gd name="adj" fmla="val 9412"/>
            </a:avLst>
          </a:prstGeom>
          <a:solidFill>
            <a:srgbClr val="FFFFFF"/>
          </a:solidFill>
          <a:ln w="12700">
            <a:solidFill>
              <a:srgbClr val="DBFFFE"/>
            </a:solidFill>
            <a:prstDash val="solid"/>
          </a:ln>
          <a:effectLst>
            <a:outerShdw blurRad="101600" dist="25400" dir="5400000" algn="bl" rotWithShape="0">
              <a:srgbClr val="8AC4C2">
                <a:alpha val="16000"/>
              </a:srgbClr>
            </a:outerShdw>
          </a:effectLst>
        </p:spPr>
        <p:txBody>
          <a:bodyPr/>
          <a:lstStyle/>
          <a:p>
            <a:endParaRPr lang="en-IN"/>
          </a:p>
        </p:txBody>
      </p:sp>
      <p:sp>
        <p:nvSpPr>
          <p:cNvPr id="17" name="Shape 12"/>
          <p:cNvSpPr/>
          <p:nvPr/>
        </p:nvSpPr>
        <p:spPr>
          <a:xfrm>
            <a:off x="8001000" y="2843784"/>
            <a:ext cx="475488" cy="475488"/>
          </a:xfrm>
          <a:prstGeom prst="ellipse">
            <a:avLst/>
          </a:prstGeom>
          <a:solidFill>
            <a:srgbClr val="74C0BD"/>
          </a:solidFill>
          <a:ln/>
        </p:spPr>
        <p:txBody>
          <a:bodyPr/>
          <a:lstStyle/>
          <a:p>
            <a:endParaRPr lang="en-IN"/>
          </a:p>
        </p:txBody>
      </p:sp>
      <p:pic>
        <p:nvPicPr>
          <p:cNvPr id="18" name="Image 3" descr="/home/claude/assets/users.png"/>
          <p:cNvPicPr>
            <a:picLocks noChangeAspect="1"/>
          </p:cNvPicPr>
          <p:nvPr/>
        </p:nvPicPr>
        <p:blipFill>
          <a:blip r:embed="rId6"/>
          <a:stretch>
            <a:fillRect/>
          </a:stretch>
        </p:blipFill>
        <p:spPr>
          <a:xfrm>
            <a:off x="8105607" y="2948391"/>
            <a:ext cx="266273" cy="266273"/>
          </a:xfrm>
          <a:prstGeom prst="rect">
            <a:avLst/>
          </a:prstGeom>
        </p:spPr>
      </p:pic>
      <p:sp>
        <p:nvSpPr>
          <p:cNvPr id="19" name="Text 13"/>
          <p:cNvSpPr/>
          <p:nvPr/>
        </p:nvSpPr>
        <p:spPr>
          <a:xfrm>
            <a:off x="8613648" y="2697480"/>
            <a:ext cx="2926080" cy="777240"/>
          </a:xfrm>
          <a:prstGeom prst="rect">
            <a:avLst/>
          </a:prstGeom>
          <a:noFill/>
          <a:ln/>
        </p:spPr>
        <p:txBody>
          <a:bodyPr wrap="square" lIns="0" tIns="0" rIns="0" bIns="0" rtlCol="0" anchor="ctr"/>
          <a:lstStyle/>
          <a:p>
            <a:pPr marL="0" indent="0">
              <a:buNone/>
            </a:pPr>
            <a:r>
              <a:rPr lang="en-US" sz="1250" b="1" dirty="0">
                <a:solidFill>
                  <a:srgbClr val="3F6B6A"/>
                </a:solidFill>
                <a:latin typeface="Calibri" pitchFamily="34" charset="0"/>
                <a:ea typeface="Calibri" pitchFamily="34" charset="-122"/>
                <a:cs typeface="Calibri" pitchFamily="34" charset="-120"/>
              </a:rPr>
              <a:t>69 new customers tracked</a:t>
            </a:r>
            <a:endParaRPr lang="en-US" sz="1250" dirty="0"/>
          </a:p>
        </p:txBody>
      </p:sp>
      <p:sp>
        <p:nvSpPr>
          <p:cNvPr id="20" name="Shape 14"/>
          <p:cNvSpPr/>
          <p:nvPr/>
        </p:nvSpPr>
        <p:spPr>
          <a:xfrm>
            <a:off x="7818120" y="3657600"/>
            <a:ext cx="3822192" cy="777240"/>
          </a:xfrm>
          <a:prstGeom prst="roundRect">
            <a:avLst>
              <a:gd name="adj" fmla="val 9412"/>
            </a:avLst>
          </a:prstGeom>
          <a:solidFill>
            <a:srgbClr val="FFFFFF"/>
          </a:solidFill>
          <a:ln w="12700">
            <a:solidFill>
              <a:srgbClr val="DBFFFE"/>
            </a:solidFill>
            <a:prstDash val="solid"/>
          </a:ln>
          <a:effectLst>
            <a:outerShdw blurRad="101600" dist="25400" dir="5400000" algn="bl" rotWithShape="0">
              <a:srgbClr val="8AC4C2">
                <a:alpha val="16000"/>
              </a:srgbClr>
            </a:outerShdw>
          </a:effectLst>
        </p:spPr>
        <p:txBody>
          <a:bodyPr/>
          <a:lstStyle/>
          <a:p>
            <a:endParaRPr lang="en-IN"/>
          </a:p>
        </p:txBody>
      </p:sp>
      <p:sp>
        <p:nvSpPr>
          <p:cNvPr id="21" name="Shape 15"/>
          <p:cNvSpPr/>
          <p:nvPr/>
        </p:nvSpPr>
        <p:spPr>
          <a:xfrm>
            <a:off x="8001000" y="3803904"/>
            <a:ext cx="475488" cy="475488"/>
          </a:xfrm>
          <a:prstGeom prst="ellipse">
            <a:avLst/>
          </a:prstGeom>
          <a:solidFill>
            <a:srgbClr val="74C0BD"/>
          </a:solidFill>
          <a:ln/>
        </p:spPr>
        <p:txBody>
          <a:bodyPr/>
          <a:lstStyle/>
          <a:p>
            <a:endParaRPr lang="en-IN"/>
          </a:p>
        </p:txBody>
      </p:sp>
      <p:pic>
        <p:nvPicPr>
          <p:cNvPr id="22" name="Image 4" descr="/home/claude/assets/truck.png"/>
          <p:cNvPicPr>
            <a:picLocks noChangeAspect="1"/>
          </p:cNvPicPr>
          <p:nvPr/>
        </p:nvPicPr>
        <p:blipFill>
          <a:blip r:embed="rId7"/>
          <a:stretch>
            <a:fillRect/>
          </a:stretch>
        </p:blipFill>
        <p:spPr>
          <a:xfrm>
            <a:off x="8105607" y="3908511"/>
            <a:ext cx="266273" cy="266273"/>
          </a:xfrm>
          <a:prstGeom prst="rect">
            <a:avLst/>
          </a:prstGeom>
        </p:spPr>
      </p:pic>
      <p:sp>
        <p:nvSpPr>
          <p:cNvPr id="23" name="Text 16"/>
          <p:cNvSpPr/>
          <p:nvPr/>
        </p:nvSpPr>
        <p:spPr>
          <a:xfrm>
            <a:off x="8613648" y="3657600"/>
            <a:ext cx="2926080" cy="777240"/>
          </a:xfrm>
          <a:prstGeom prst="rect">
            <a:avLst/>
          </a:prstGeom>
          <a:noFill/>
          <a:ln/>
        </p:spPr>
        <p:txBody>
          <a:bodyPr wrap="square" lIns="0" tIns="0" rIns="0" bIns="0" rtlCol="0" anchor="ctr"/>
          <a:lstStyle/>
          <a:p>
            <a:pPr marL="0" indent="0">
              <a:buNone/>
            </a:pPr>
            <a:r>
              <a:rPr lang="en-US" sz="1250" b="1" dirty="0">
                <a:solidFill>
                  <a:srgbClr val="3F6B6A"/>
                </a:solidFill>
                <a:latin typeface="Calibri" pitchFamily="34" charset="0"/>
                <a:ea typeface="Calibri" pitchFamily="34" charset="-122"/>
                <a:cs typeface="Calibri" pitchFamily="34" charset="-120"/>
              </a:rPr>
              <a:t>Delivery performance monitored</a:t>
            </a:r>
            <a:endParaRPr lang="en-US" sz="1250" dirty="0"/>
          </a:p>
        </p:txBody>
      </p:sp>
      <p:sp>
        <p:nvSpPr>
          <p:cNvPr id="24" name="Text 17"/>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79A09F"/>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444</TotalTime>
  <Words>804</Words>
  <Application>Microsoft Office PowerPoint</Application>
  <PresentationFormat>Widescreen</PresentationFormat>
  <Paragraphs>117</Paragraphs>
  <Slides>10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Algerian</vt: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Shreyasree Mete</cp:lastModifiedBy>
  <cp:revision>17</cp:revision>
  <dcterms:created xsi:type="dcterms:W3CDTF">2026-08-04T05:26:33Z</dcterms:created>
  <dcterms:modified xsi:type="dcterms:W3CDTF">2026-08-17T08:19:13Z</dcterms:modified>
</cp:coreProperties>
</file>